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56" r:id="rId5"/>
    <p:sldId id="257" r:id="rId6"/>
    <p:sldId id="258" r:id="rId7"/>
    <p:sldId id="259" r:id="rId8"/>
    <p:sldId id="265" r:id="rId9"/>
    <p:sldId id="261" r:id="rId10"/>
    <p:sldId id="262"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6A4778-668A-42BE-9C62-D31534433EAA}" v="104" dt="2026-02-21T20:16:18.2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06" autoAdjust="0"/>
    <p:restoredTop sz="94660"/>
  </p:normalViewPr>
  <p:slideViewPr>
    <p:cSldViewPr snapToGrid="0">
      <p:cViewPr>
        <p:scale>
          <a:sx n="100" d="100"/>
          <a:sy n="100" d="100"/>
        </p:scale>
        <p:origin x="2160" y="1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87F041-A05E-4CCD-8741-E07C6F999356}"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CE7D7B33-DA07-4346-8858-B6AFA44D3573}">
      <dgm:prSet/>
      <dgm:spPr/>
      <dgm:t>
        <a:bodyPr/>
        <a:lstStyle/>
        <a:p>
          <a:r>
            <a:rPr lang="en-US" b="1"/>
            <a:t>Product Owner: </a:t>
          </a:r>
          <a:r>
            <a:rPr lang="en-US"/>
            <a:t>Maximizes business value; manages the Product Backlog.</a:t>
          </a:r>
        </a:p>
      </dgm:t>
    </dgm:pt>
    <dgm:pt modelId="{AFFAD9E8-3AD8-4C85-B616-3F6D78645EBF}" type="parTrans" cxnId="{2CC0D1E4-3C65-4B64-B075-DB36EB6399CE}">
      <dgm:prSet/>
      <dgm:spPr/>
      <dgm:t>
        <a:bodyPr/>
        <a:lstStyle/>
        <a:p>
          <a:endParaRPr lang="en-US"/>
        </a:p>
      </dgm:t>
    </dgm:pt>
    <dgm:pt modelId="{7476C4A5-28FE-4A00-A9F7-DCC633499682}" type="sibTrans" cxnId="{2CC0D1E4-3C65-4B64-B075-DB36EB6399CE}">
      <dgm:prSet/>
      <dgm:spPr/>
      <dgm:t>
        <a:bodyPr/>
        <a:lstStyle/>
        <a:p>
          <a:endParaRPr lang="en-US"/>
        </a:p>
      </dgm:t>
    </dgm:pt>
    <dgm:pt modelId="{7F5670D0-FE9C-4463-86D6-3639338A00BC}">
      <dgm:prSet/>
      <dgm:spPr/>
      <dgm:t>
        <a:bodyPr/>
        <a:lstStyle/>
        <a:p>
          <a:r>
            <a:rPr lang="en-US" b="1"/>
            <a:t>Development Team: </a:t>
          </a:r>
          <a:r>
            <a:rPr lang="en-US"/>
            <a:t>Cross-functional group executing technical work.</a:t>
          </a:r>
        </a:p>
      </dgm:t>
    </dgm:pt>
    <dgm:pt modelId="{4328DACB-39F0-457D-AA23-8A78A5F9741F}" type="parTrans" cxnId="{1B1380D8-6424-4925-ADE4-7E86E3F2F669}">
      <dgm:prSet/>
      <dgm:spPr/>
      <dgm:t>
        <a:bodyPr/>
        <a:lstStyle/>
        <a:p>
          <a:endParaRPr lang="en-US"/>
        </a:p>
      </dgm:t>
    </dgm:pt>
    <dgm:pt modelId="{951CD979-64CF-48EC-A5A6-76CCF38646D0}" type="sibTrans" cxnId="{1B1380D8-6424-4925-ADE4-7E86E3F2F669}">
      <dgm:prSet/>
      <dgm:spPr/>
      <dgm:t>
        <a:bodyPr/>
        <a:lstStyle/>
        <a:p>
          <a:endParaRPr lang="en-US"/>
        </a:p>
      </dgm:t>
    </dgm:pt>
    <dgm:pt modelId="{4CC34C3C-427A-42F3-9FA2-48AA2C9FE41B}">
      <dgm:prSet/>
      <dgm:spPr/>
      <dgm:t>
        <a:bodyPr/>
        <a:lstStyle/>
        <a:p>
          <a:r>
            <a:rPr lang="en-US" b="1"/>
            <a:t>Scrum Master: </a:t>
          </a:r>
          <a:r>
            <a:rPr lang="en-US"/>
            <a:t>Facilitates the process; removes team roadblocks.</a:t>
          </a:r>
        </a:p>
      </dgm:t>
    </dgm:pt>
    <dgm:pt modelId="{D359E9A3-E384-45FA-9981-CDC78E30C911}" type="parTrans" cxnId="{BCE2B959-D81D-45B7-9CE9-0A630777A7B8}">
      <dgm:prSet/>
      <dgm:spPr/>
      <dgm:t>
        <a:bodyPr/>
        <a:lstStyle/>
        <a:p>
          <a:endParaRPr lang="en-US"/>
        </a:p>
      </dgm:t>
    </dgm:pt>
    <dgm:pt modelId="{204311FC-4A23-45A8-9467-8F29D9465E2F}" type="sibTrans" cxnId="{BCE2B959-D81D-45B7-9CE9-0A630777A7B8}">
      <dgm:prSet/>
      <dgm:spPr/>
      <dgm:t>
        <a:bodyPr/>
        <a:lstStyle/>
        <a:p>
          <a:endParaRPr lang="en-US"/>
        </a:p>
      </dgm:t>
    </dgm:pt>
    <dgm:pt modelId="{B30E3350-4876-467C-A71C-F4C1826BD4E5}" type="pres">
      <dgm:prSet presAssocID="{6987F041-A05E-4CCD-8741-E07C6F999356}" presName="hierChild1" presStyleCnt="0">
        <dgm:presLayoutVars>
          <dgm:chPref val="1"/>
          <dgm:dir/>
          <dgm:animOne val="branch"/>
          <dgm:animLvl val="lvl"/>
          <dgm:resizeHandles/>
        </dgm:presLayoutVars>
      </dgm:prSet>
      <dgm:spPr/>
    </dgm:pt>
    <dgm:pt modelId="{D121BEED-5753-40A3-9B1B-922B2DE6AE77}" type="pres">
      <dgm:prSet presAssocID="{CE7D7B33-DA07-4346-8858-B6AFA44D3573}" presName="hierRoot1" presStyleCnt="0"/>
      <dgm:spPr/>
    </dgm:pt>
    <dgm:pt modelId="{192E5EA6-2985-4789-8050-A08E855A1961}" type="pres">
      <dgm:prSet presAssocID="{CE7D7B33-DA07-4346-8858-B6AFA44D3573}" presName="composite" presStyleCnt="0"/>
      <dgm:spPr/>
    </dgm:pt>
    <dgm:pt modelId="{DB51D946-60FE-4851-BAF8-A3DB5F831929}" type="pres">
      <dgm:prSet presAssocID="{CE7D7B33-DA07-4346-8858-B6AFA44D3573}" presName="background" presStyleLbl="node0" presStyleIdx="0" presStyleCnt="3"/>
      <dgm:spPr/>
    </dgm:pt>
    <dgm:pt modelId="{2E5E6D9C-8ED2-4F30-B336-6520597072AE}" type="pres">
      <dgm:prSet presAssocID="{CE7D7B33-DA07-4346-8858-B6AFA44D3573}" presName="text" presStyleLbl="fgAcc0" presStyleIdx="0" presStyleCnt="3">
        <dgm:presLayoutVars>
          <dgm:chPref val="3"/>
        </dgm:presLayoutVars>
      </dgm:prSet>
      <dgm:spPr/>
    </dgm:pt>
    <dgm:pt modelId="{C4FBEB5A-4BF2-4D5A-9DB4-2206BB06E9E8}" type="pres">
      <dgm:prSet presAssocID="{CE7D7B33-DA07-4346-8858-B6AFA44D3573}" presName="hierChild2" presStyleCnt="0"/>
      <dgm:spPr/>
    </dgm:pt>
    <dgm:pt modelId="{EF2E7D0B-31C0-48CE-A16C-BF5A50546784}" type="pres">
      <dgm:prSet presAssocID="{7F5670D0-FE9C-4463-86D6-3639338A00BC}" presName="hierRoot1" presStyleCnt="0"/>
      <dgm:spPr/>
    </dgm:pt>
    <dgm:pt modelId="{A5A79BEB-446F-4087-92C6-341FCFDE918A}" type="pres">
      <dgm:prSet presAssocID="{7F5670D0-FE9C-4463-86D6-3639338A00BC}" presName="composite" presStyleCnt="0"/>
      <dgm:spPr/>
    </dgm:pt>
    <dgm:pt modelId="{BE16ED62-B203-4E62-BF7D-C640F9A44E53}" type="pres">
      <dgm:prSet presAssocID="{7F5670D0-FE9C-4463-86D6-3639338A00BC}" presName="background" presStyleLbl="node0" presStyleIdx="1" presStyleCnt="3"/>
      <dgm:spPr/>
    </dgm:pt>
    <dgm:pt modelId="{7745D4FC-1546-4CF1-9E40-FBFFB4BEC577}" type="pres">
      <dgm:prSet presAssocID="{7F5670D0-FE9C-4463-86D6-3639338A00BC}" presName="text" presStyleLbl="fgAcc0" presStyleIdx="1" presStyleCnt="3">
        <dgm:presLayoutVars>
          <dgm:chPref val="3"/>
        </dgm:presLayoutVars>
      </dgm:prSet>
      <dgm:spPr/>
    </dgm:pt>
    <dgm:pt modelId="{1F7FCF71-A93D-4EAB-83C0-FC4D4CE007A6}" type="pres">
      <dgm:prSet presAssocID="{7F5670D0-FE9C-4463-86D6-3639338A00BC}" presName="hierChild2" presStyleCnt="0"/>
      <dgm:spPr/>
    </dgm:pt>
    <dgm:pt modelId="{04B3DB89-0DE5-4EEF-8B0A-AE9663AAB82D}" type="pres">
      <dgm:prSet presAssocID="{4CC34C3C-427A-42F3-9FA2-48AA2C9FE41B}" presName="hierRoot1" presStyleCnt="0"/>
      <dgm:spPr/>
    </dgm:pt>
    <dgm:pt modelId="{C3567C90-A365-4B06-B1F9-8D8E67886311}" type="pres">
      <dgm:prSet presAssocID="{4CC34C3C-427A-42F3-9FA2-48AA2C9FE41B}" presName="composite" presStyleCnt="0"/>
      <dgm:spPr/>
    </dgm:pt>
    <dgm:pt modelId="{449E5933-B41F-4F03-8A51-BBE95E7A1CD4}" type="pres">
      <dgm:prSet presAssocID="{4CC34C3C-427A-42F3-9FA2-48AA2C9FE41B}" presName="background" presStyleLbl="node0" presStyleIdx="2" presStyleCnt="3"/>
      <dgm:spPr/>
    </dgm:pt>
    <dgm:pt modelId="{23822929-864E-446C-ADD0-ADC14C18BB0E}" type="pres">
      <dgm:prSet presAssocID="{4CC34C3C-427A-42F3-9FA2-48AA2C9FE41B}" presName="text" presStyleLbl="fgAcc0" presStyleIdx="2" presStyleCnt="3">
        <dgm:presLayoutVars>
          <dgm:chPref val="3"/>
        </dgm:presLayoutVars>
      </dgm:prSet>
      <dgm:spPr/>
    </dgm:pt>
    <dgm:pt modelId="{5241AA5E-0BDA-42A0-9072-AE2161F2ED13}" type="pres">
      <dgm:prSet presAssocID="{4CC34C3C-427A-42F3-9FA2-48AA2C9FE41B}" presName="hierChild2" presStyleCnt="0"/>
      <dgm:spPr/>
    </dgm:pt>
  </dgm:ptLst>
  <dgm:cxnLst>
    <dgm:cxn modelId="{498CF112-7BC6-4D2E-A9C7-C11FEE59DE21}" type="presOf" srcId="{6987F041-A05E-4CCD-8741-E07C6F999356}" destId="{B30E3350-4876-467C-A71C-F4C1826BD4E5}" srcOrd="0" destOrd="0" presId="urn:microsoft.com/office/officeart/2005/8/layout/hierarchy1"/>
    <dgm:cxn modelId="{BCE2B959-D81D-45B7-9CE9-0A630777A7B8}" srcId="{6987F041-A05E-4CCD-8741-E07C6F999356}" destId="{4CC34C3C-427A-42F3-9FA2-48AA2C9FE41B}" srcOrd="2" destOrd="0" parTransId="{D359E9A3-E384-45FA-9981-CDC78E30C911}" sibTransId="{204311FC-4A23-45A8-9467-8F29D9465E2F}"/>
    <dgm:cxn modelId="{F2EC5EA1-422E-4956-937A-148158A26F3E}" type="presOf" srcId="{4CC34C3C-427A-42F3-9FA2-48AA2C9FE41B}" destId="{23822929-864E-446C-ADD0-ADC14C18BB0E}" srcOrd="0" destOrd="0" presId="urn:microsoft.com/office/officeart/2005/8/layout/hierarchy1"/>
    <dgm:cxn modelId="{405B00BC-9BAB-4E7E-AB4F-29DA53EC53A9}" type="presOf" srcId="{7F5670D0-FE9C-4463-86D6-3639338A00BC}" destId="{7745D4FC-1546-4CF1-9E40-FBFFB4BEC577}" srcOrd="0" destOrd="0" presId="urn:microsoft.com/office/officeart/2005/8/layout/hierarchy1"/>
    <dgm:cxn modelId="{2CC0D1E4-3C65-4B64-B075-DB36EB6399CE}" srcId="{6987F041-A05E-4CCD-8741-E07C6F999356}" destId="{CE7D7B33-DA07-4346-8858-B6AFA44D3573}" srcOrd="0" destOrd="0" parTransId="{AFFAD9E8-3AD8-4C85-B616-3F6D78645EBF}" sibTransId="{7476C4A5-28FE-4A00-A9F7-DCC633499682}"/>
    <dgm:cxn modelId="{1FE045D0-DA9B-46D7-8FB9-0164BA2B70BE}" type="presOf" srcId="{CE7D7B33-DA07-4346-8858-B6AFA44D3573}" destId="{2E5E6D9C-8ED2-4F30-B336-6520597072AE}" srcOrd="0" destOrd="0" presId="urn:microsoft.com/office/officeart/2005/8/layout/hierarchy1"/>
    <dgm:cxn modelId="{1B1380D8-6424-4925-ADE4-7E86E3F2F669}" srcId="{6987F041-A05E-4CCD-8741-E07C6F999356}" destId="{7F5670D0-FE9C-4463-86D6-3639338A00BC}" srcOrd="1" destOrd="0" parTransId="{4328DACB-39F0-457D-AA23-8A78A5F9741F}" sibTransId="{951CD979-64CF-48EC-A5A6-76CCF38646D0}"/>
    <dgm:cxn modelId="{B8DAAF9D-328D-4416-B24F-097F17B80881}" type="presParOf" srcId="{B30E3350-4876-467C-A71C-F4C1826BD4E5}" destId="{D121BEED-5753-40A3-9B1B-922B2DE6AE77}" srcOrd="0" destOrd="0" presId="urn:microsoft.com/office/officeart/2005/8/layout/hierarchy1"/>
    <dgm:cxn modelId="{ED4E4197-2AE9-4B2E-BC2D-78422C162FEA}" type="presParOf" srcId="{D121BEED-5753-40A3-9B1B-922B2DE6AE77}" destId="{192E5EA6-2985-4789-8050-A08E855A1961}" srcOrd="0" destOrd="0" presId="urn:microsoft.com/office/officeart/2005/8/layout/hierarchy1"/>
    <dgm:cxn modelId="{0F930108-0CA6-45B3-9C69-FA6C37E2A291}" type="presParOf" srcId="{192E5EA6-2985-4789-8050-A08E855A1961}" destId="{DB51D946-60FE-4851-BAF8-A3DB5F831929}" srcOrd="0" destOrd="0" presId="urn:microsoft.com/office/officeart/2005/8/layout/hierarchy1"/>
    <dgm:cxn modelId="{ACCF6A08-6FED-4E66-AC19-215DB72000F3}" type="presParOf" srcId="{192E5EA6-2985-4789-8050-A08E855A1961}" destId="{2E5E6D9C-8ED2-4F30-B336-6520597072AE}" srcOrd="1" destOrd="0" presId="urn:microsoft.com/office/officeart/2005/8/layout/hierarchy1"/>
    <dgm:cxn modelId="{06E23812-3E97-4672-B277-0355C1F5BEDB}" type="presParOf" srcId="{D121BEED-5753-40A3-9B1B-922B2DE6AE77}" destId="{C4FBEB5A-4BF2-4D5A-9DB4-2206BB06E9E8}" srcOrd="1" destOrd="0" presId="urn:microsoft.com/office/officeart/2005/8/layout/hierarchy1"/>
    <dgm:cxn modelId="{2778565E-643E-433B-B030-95E4930659E2}" type="presParOf" srcId="{B30E3350-4876-467C-A71C-F4C1826BD4E5}" destId="{EF2E7D0B-31C0-48CE-A16C-BF5A50546784}" srcOrd="1" destOrd="0" presId="urn:microsoft.com/office/officeart/2005/8/layout/hierarchy1"/>
    <dgm:cxn modelId="{B593E96A-7158-41B1-B1C8-DC1C5F0D2D7C}" type="presParOf" srcId="{EF2E7D0B-31C0-48CE-A16C-BF5A50546784}" destId="{A5A79BEB-446F-4087-92C6-341FCFDE918A}" srcOrd="0" destOrd="0" presId="urn:microsoft.com/office/officeart/2005/8/layout/hierarchy1"/>
    <dgm:cxn modelId="{6F3DDFE2-5763-48C9-B684-28856542AF64}" type="presParOf" srcId="{A5A79BEB-446F-4087-92C6-341FCFDE918A}" destId="{BE16ED62-B203-4E62-BF7D-C640F9A44E53}" srcOrd="0" destOrd="0" presId="urn:microsoft.com/office/officeart/2005/8/layout/hierarchy1"/>
    <dgm:cxn modelId="{FB0CC6EE-A07E-46B6-B801-656BB0F798B0}" type="presParOf" srcId="{A5A79BEB-446F-4087-92C6-341FCFDE918A}" destId="{7745D4FC-1546-4CF1-9E40-FBFFB4BEC577}" srcOrd="1" destOrd="0" presId="urn:microsoft.com/office/officeart/2005/8/layout/hierarchy1"/>
    <dgm:cxn modelId="{BC99FB51-F8D2-410F-9D8E-F672CB4CCBD1}" type="presParOf" srcId="{EF2E7D0B-31C0-48CE-A16C-BF5A50546784}" destId="{1F7FCF71-A93D-4EAB-83C0-FC4D4CE007A6}" srcOrd="1" destOrd="0" presId="urn:microsoft.com/office/officeart/2005/8/layout/hierarchy1"/>
    <dgm:cxn modelId="{F43470C0-FED4-4EAE-987F-7D2EDE287112}" type="presParOf" srcId="{B30E3350-4876-467C-A71C-F4C1826BD4E5}" destId="{04B3DB89-0DE5-4EEF-8B0A-AE9663AAB82D}" srcOrd="2" destOrd="0" presId="urn:microsoft.com/office/officeart/2005/8/layout/hierarchy1"/>
    <dgm:cxn modelId="{A60400C1-F180-4883-8743-32DB1B39D759}" type="presParOf" srcId="{04B3DB89-0DE5-4EEF-8B0A-AE9663AAB82D}" destId="{C3567C90-A365-4B06-B1F9-8D8E67886311}" srcOrd="0" destOrd="0" presId="urn:microsoft.com/office/officeart/2005/8/layout/hierarchy1"/>
    <dgm:cxn modelId="{63CF48FF-EDAF-4F0A-B3FC-F66C4B42A0E2}" type="presParOf" srcId="{C3567C90-A365-4B06-B1F9-8D8E67886311}" destId="{449E5933-B41F-4F03-8A51-BBE95E7A1CD4}" srcOrd="0" destOrd="0" presId="urn:microsoft.com/office/officeart/2005/8/layout/hierarchy1"/>
    <dgm:cxn modelId="{34C60B86-075C-4CA4-BF30-CF775CB69B5A}" type="presParOf" srcId="{C3567C90-A365-4B06-B1F9-8D8E67886311}" destId="{23822929-864E-446C-ADD0-ADC14C18BB0E}" srcOrd="1" destOrd="0" presId="urn:microsoft.com/office/officeart/2005/8/layout/hierarchy1"/>
    <dgm:cxn modelId="{0C2F0B1D-7F06-4984-9786-79415012EE0C}" type="presParOf" srcId="{04B3DB89-0DE5-4EEF-8B0A-AE9663AAB82D}" destId="{5241AA5E-0BDA-42A0-9072-AE2161F2ED1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D1DF8C-9CE9-4EB1-9FF7-A6FFA6191497}" type="doc">
      <dgm:prSet loTypeId="urn:microsoft.com/office/officeart/2018/2/layout/IconVerticalSolidList" loCatId="icon" qsTypeId="urn:microsoft.com/office/officeart/2005/8/quickstyle/simple2" qsCatId="simple" csTypeId="urn:microsoft.com/office/officeart/2005/8/colors/colorful1" csCatId="colorful" phldr="1"/>
      <dgm:spPr/>
      <dgm:t>
        <a:bodyPr/>
        <a:lstStyle/>
        <a:p>
          <a:endParaRPr lang="en-US"/>
        </a:p>
      </dgm:t>
    </dgm:pt>
    <dgm:pt modelId="{55CBA39E-126E-4F01-84EF-4312C745F962}">
      <dgm:prSet/>
      <dgm:spPr/>
      <dgm:t>
        <a:bodyPr/>
        <a:lstStyle/>
        <a:p>
          <a:pPr>
            <a:lnSpc>
              <a:spcPct val="100000"/>
            </a:lnSpc>
          </a:pPr>
          <a:r>
            <a:rPr lang="en-US" b="1" i="1" dirty="0">
              <a:latin typeface="Arial" panose="020B0604020202020204" pitchFamily="34" charset="0"/>
              <a:cs typeface="Arial" panose="020B0604020202020204" pitchFamily="34" charset="0"/>
            </a:rPr>
            <a:t>The Pivot: </a:t>
          </a:r>
          <a:r>
            <a:rPr lang="en-US" i="1" dirty="0">
              <a:latin typeface="Arial" panose="020B0604020202020204" pitchFamily="34" charset="0"/>
              <a:cs typeface="Arial" panose="020B0604020202020204" pitchFamily="34" charset="0"/>
            </a:rPr>
            <a:t>Sudden client request for 'Detox/Wellness' features.</a:t>
          </a:r>
        </a:p>
      </dgm:t>
    </dgm:pt>
    <dgm:pt modelId="{EB9B1D9F-CD6F-4745-800E-4A274364096F}" type="parTrans" cxnId="{323880D6-02CF-447A-9979-A8A685476EC2}">
      <dgm:prSet/>
      <dgm:spPr/>
      <dgm:t>
        <a:bodyPr/>
        <a:lstStyle/>
        <a:p>
          <a:endParaRPr lang="en-US"/>
        </a:p>
      </dgm:t>
    </dgm:pt>
    <dgm:pt modelId="{31C9BB9A-CAE7-4107-816B-D3324C515B6D}" type="sibTrans" cxnId="{323880D6-02CF-447A-9979-A8A685476EC2}">
      <dgm:prSet/>
      <dgm:spPr/>
      <dgm:t>
        <a:bodyPr/>
        <a:lstStyle/>
        <a:p>
          <a:endParaRPr lang="en-US"/>
        </a:p>
      </dgm:t>
    </dgm:pt>
    <dgm:pt modelId="{7EA2B721-8218-47F5-BF4F-B0CE18F583AF}">
      <dgm:prSet/>
      <dgm:spPr/>
      <dgm:t>
        <a:bodyPr/>
        <a:lstStyle/>
        <a:p>
          <a:pPr>
            <a:lnSpc>
              <a:spcPct val="100000"/>
            </a:lnSpc>
          </a:pPr>
          <a:r>
            <a:rPr lang="en-US" b="1">
              <a:latin typeface="Arial" panose="020B0604020202020204" pitchFamily="34" charset="0"/>
              <a:cs typeface="Arial" panose="020B0604020202020204" pitchFamily="34" charset="0"/>
            </a:rPr>
            <a:t>Waterfall Impact: </a:t>
          </a:r>
          <a:r>
            <a:rPr lang="en-US">
              <a:latin typeface="Arial" panose="020B0604020202020204" pitchFamily="34" charset="0"/>
              <a:cs typeface="Arial" panose="020B0604020202020204" pitchFamily="34" charset="0"/>
            </a:rPr>
            <a:t>Halted production, formal change requests, delayed release.</a:t>
          </a:r>
        </a:p>
      </dgm:t>
    </dgm:pt>
    <dgm:pt modelId="{135719AA-1440-4F44-9FCE-8255741903AE}" type="parTrans" cxnId="{F7887520-6DA3-4A5B-8563-3E5B099F00FA}">
      <dgm:prSet/>
      <dgm:spPr/>
      <dgm:t>
        <a:bodyPr/>
        <a:lstStyle/>
        <a:p>
          <a:endParaRPr lang="en-US"/>
        </a:p>
      </dgm:t>
    </dgm:pt>
    <dgm:pt modelId="{95C14BBF-7551-42CD-AF47-7A59C8ECC3DE}" type="sibTrans" cxnId="{F7887520-6DA3-4A5B-8563-3E5B099F00FA}">
      <dgm:prSet/>
      <dgm:spPr/>
      <dgm:t>
        <a:bodyPr/>
        <a:lstStyle/>
        <a:p>
          <a:endParaRPr lang="en-US"/>
        </a:p>
      </dgm:t>
    </dgm:pt>
    <dgm:pt modelId="{FBD0C32E-FE2B-43E8-A76D-32141EC8FC2F}">
      <dgm:prSet/>
      <dgm:spPr/>
      <dgm:t>
        <a:bodyPr/>
        <a:lstStyle/>
        <a:p>
          <a:pPr>
            <a:lnSpc>
              <a:spcPct val="100000"/>
            </a:lnSpc>
          </a:pPr>
          <a:r>
            <a:rPr lang="en-US" b="1" dirty="0">
              <a:latin typeface="Arial" panose="020B0604020202020204" pitchFamily="34" charset="0"/>
              <a:cs typeface="Arial" panose="020B0604020202020204" pitchFamily="34" charset="0"/>
            </a:rPr>
            <a:t>Agile Solution: </a:t>
          </a:r>
          <a:r>
            <a:rPr lang="en-US" dirty="0">
              <a:latin typeface="Arial" panose="020B0604020202020204" pitchFamily="34" charset="0"/>
              <a:cs typeface="Arial" panose="020B0604020202020204" pitchFamily="34" charset="0"/>
            </a:rPr>
            <a:t>Backlog reprioritized; code adapted seamlessly in the next sprint.</a:t>
          </a:r>
        </a:p>
      </dgm:t>
    </dgm:pt>
    <dgm:pt modelId="{D7B8C7B7-E49F-4629-A525-CD71EA0F2E87}" type="parTrans" cxnId="{68CCA93A-B4AF-42E4-9A7D-8B2385692F9C}">
      <dgm:prSet/>
      <dgm:spPr/>
      <dgm:t>
        <a:bodyPr/>
        <a:lstStyle/>
        <a:p>
          <a:endParaRPr lang="en-US"/>
        </a:p>
      </dgm:t>
    </dgm:pt>
    <dgm:pt modelId="{E0CD4650-17E2-4ED9-81A8-500F83DAB252}" type="sibTrans" cxnId="{68CCA93A-B4AF-42E4-9A7D-8B2385692F9C}">
      <dgm:prSet/>
      <dgm:spPr/>
      <dgm:t>
        <a:bodyPr/>
        <a:lstStyle/>
        <a:p>
          <a:endParaRPr lang="en-US"/>
        </a:p>
      </dgm:t>
    </dgm:pt>
    <dgm:pt modelId="{8C93F7C3-2531-4777-827D-AE3AF9BFA856}" type="pres">
      <dgm:prSet presAssocID="{DBD1DF8C-9CE9-4EB1-9FF7-A6FFA6191497}" presName="root" presStyleCnt="0">
        <dgm:presLayoutVars>
          <dgm:dir/>
          <dgm:resizeHandles val="exact"/>
        </dgm:presLayoutVars>
      </dgm:prSet>
      <dgm:spPr/>
    </dgm:pt>
    <dgm:pt modelId="{C61C2C67-9134-47C7-9591-366FCB486E62}" type="pres">
      <dgm:prSet presAssocID="{55CBA39E-126E-4F01-84EF-4312C745F962}" presName="compNode" presStyleCnt="0"/>
      <dgm:spPr/>
    </dgm:pt>
    <dgm:pt modelId="{057E539E-E3AD-444D-A7D2-2B11FA3AB5E7}" type="pres">
      <dgm:prSet presAssocID="{55CBA39E-126E-4F01-84EF-4312C745F962}" presName="bgRect" presStyleLbl="bgShp" presStyleIdx="0" presStyleCnt="3"/>
      <dgm:spPr/>
    </dgm:pt>
    <dgm:pt modelId="{E8C91355-BF1E-4CC6-802C-94BC8470463B}" type="pres">
      <dgm:prSet presAssocID="{55CBA39E-126E-4F01-84EF-4312C745F96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hare With Person"/>
        </a:ext>
      </dgm:extLst>
    </dgm:pt>
    <dgm:pt modelId="{459DDA35-830D-46DD-BC17-79FE98CAA2E2}" type="pres">
      <dgm:prSet presAssocID="{55CBA39E-126E-4F01-84EF-4312C745F962}" presName="spaceRect" presStyleCnt="0"/>
      <dgm:spPr/>
    </dgm:pt>
    <dgm:pt modelId="{69F6E4BE-AE52-4041-B426-2E703D9D6A0B}" type="pres">
      <dgm:prSet presAssocID="{55CBA39E-126E-4F01-84EF-4312C745F962}" presName="parTx" presStyleLbl="revTx" presStyleIdx="0" presStyleCnt="3">
        <dgm:presLayoutVars>
          <dgm:chMax val="0"/>
          <dgm:chPref val="0"/>
        </dgm:presLayoutVars>
      </dgm:prSet>
      <dgm:spPr/>
    </dgm:pt>
    <dgm:pt modelId="{40998ECF-C6F3-4DEB-9584-DF7EB918EC6C}" type="pres">
      <dgm:prSet presAssocID="{31C9BB9A-CAE7-4107-816B-D3324C515B6D}" presName="sibTrans" presStyleCnt="0"/>
      <dgm:spPr/>
    </dgm:pt>
    <dgm:pt modelId="{9EFA5574-7DCE-4ABD-BB12-70FA2C07B585}" type="pres">
      <dgm:prSet presAssocID="{7EA2B721-8218-47F5-BF4F-B0CE18F583AF}" presName="compNode" presStyleCnt="0"/>
      <dgm:spPr/>
    </dgm:pt>
    <dgm:pt modelId="{6B7ADAD3-936D-4EC2-910D-0254C6D67BEA}" type="pres">
      <dgm:prSet presAssocID="{7EA2B721-8218-47F5-BF4F-B0CE18F583AF}" presName="bgRect" presStyleLbl="bgShp" presStyleIdx="1" presStyleCnt="3"/>
      <dgm:spPr/>
    </dgm:pt>
    <dgm:pt modelId="{BAACD6EF-EA71-4339-9D44-B54E4A3B58F4}" type="pres">
      <dgm:prSet presAssocID="{7EA2B721-8218-47F5-BF4F-B0CE18F583A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aterfall scene"/>
        </a:ext>
      </dgm:extLst>
    </dgm:pt>
    <dgm:pt modelId="{4498F5EE-8051-47E8-9579-9A12D474B3B8}" type="pres">
      <dgm:prSet presAssocID="{7EA2B721-8218-47F5-BF4F-B0CE18F583AF}" presName="spaceRect" presStyleCnt="0"/>
      <dgm:spPr/>
    </dgm:pt>
    <dgm:pt modelId="{24CBC1E0-FF5D-4B9B-8085-83C6C0DC114C}" type="pres">
      <dgm:prSet presAssocID="{7EA2B721-8218-47F5-BF4F-B0CE18F583AF}" presName="parTx" presStyleLbl="revTx" presStyleIdx="1" presStyleCnt="3">
        <dgm:presLayoutVars>
          <dgm:chMax val="0"/>
          <dgm:chPref val="0"/>
        </dgm:presLayoutVars>
      </dgm:prSet>
      <dgm:spPr/>
    </dgm:pt>
    <dgm:pt modelId="{0E1F76A6-8161-4806-8004-214875462C1C}" type="pres">
      <dgm:prSet presAssocID="{95C14BBF-7551-42CD-AF47-7A59C8ECC3DE}" presName="sibTrans" presStyleCnt="0"/>
      <dgm:spPr/>
    </dgm:pt>
    <dgm:pt modelId="{3C52825C-9DF6-49E3-959D-99BB03C09EC2}" type="pres">
      <dgm:prSet presAssocID="{FBD0C32E-FE2B-43E8-A76D-32141EC8FC2F}" presName="compNode" presStyleCnt="0"/>
      <dgm:spPr/>
    </dgm:pt>
    <dgm:pt modelId="{9B77BE39-2B85-4DBD-8275-CE4BAD87FF43}" type="pres">
      <dgm:prSet presAssocID="{FBD0C32E-FE2B-43E8-A76D-32141EC8FC2F}" presName="bgRect" presStyleLbl="bgShp" presStyleIdx="2" presStyleCnt="3"/>
      <dgm:spPr/>
    </dgm:pt>
    <dgm:pt modelId="{6E532706-6003-46E7-BEB4-90E49633F634}" type="pres">
      <dgm:prSet presAssocID="{FBD0C32E-FE2B-43E8-A76D-32141EC8FC2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ridge scene"/>
        </a:ext>
      </dgm:extLst>
    </dgm:pt>
    <dgm:pt modelId="{2E9169AD-61A6-4B88-8D62-87BBA7ADE8D9}" type="pres">
      <dgm:prSet presAssocID="{FBD0C32E-FE2B-43E8-A76D-32141EC8FC2F}" presName="spaceRect" presStyleCnt="0"/>
      <dgm:spPr/>
    </dgm:pt>
    <dgm:pt modelId="{D863AB76-0FF9-45E6-A62E-D5BF92CC9143}" type="pres">
      <dgm:prSet presAssocID="{FBD0C32E-FE2B-43E8-A76D-32141EC8FC2F}" presName="parTx" presStyleLbl="revTx" presStyleIdx="2" presStyleCnt="3">
        <dgm:presLayoutVars>
          <dgm:chMax val="0"/>
          <dgm:chPref val="0"/>
        </dgm:presLayoutVars>
      </dgm:prSet>
      <dgm:spPr/>
    </dgm:pt>
  </dgm:ptLst>
  <dgm:cxnLst>
    <dgm:cxn modelId="{ECD91214-071F-498A-B30A-ADBB2ED03C41}" type="presOf" srcId="{7EA2B721-8218-47F5-BF4F-B0CE18F583AF}" destId="{24CBC1E0-FF5D-4B9B-8085-83C6C0DC114C}" srcOrd="0" destOrd="0" presId="urn:microsoft.com/office/officeart/2018/2/layout/IconVerticalSolidList"/>
    <dgm:cxn modelId="{F7887520-6DA3-4A5B-8563-3E5B099F00FA}" srcId="{DBD1DF8C-9CE9-4EB1-9FF7-A6FFA6191497}" destId="{7EA2B721-8218-47F5-BF4F-B0CE18F583AF}" srcOrd="1" destOrd="0" parTransId="{135719AA-1440-4F44-9FCE-8255741903AE}" sibTransId="{95C14BBF-7551-42CD-AF47-7A59C8ECC3DE}"/>
    <dgm:cxn modelId="{68CCA93A-B4AF-42E4-9A7D-8B2385692F9C}" srcId="{DBD1DF8C-9CE9-4EB1-9FF7-A6FFA6191497}" destId="{FBD0C32E-FE2B-43E8-A76D-32141EC8FC2F}" srcOrd="2" destOrd="0" parTransId="{D7B8C7B7-E49F-4629-A525-CD71EA0F2E87}" sibTransId="{E0CD4650-17E2-4ED9-81A8-500F83DAB252}"/>
    <dgm:cxn modelId="{5BB1F35E-F5FF-4D3F-A45B-E70102A7814B}" type="presOf" srcId="{FBD0C32E-FE2B-43E8-A76D-32141EC8FC2F}" destId="{D863AB76-0FF9-45E6-A62E-D5BF92CC9143}" srcOrd="0" destOrd="0" presId="urn:microsoft.com/office/officeart/2018/2/layout/IconVerticalSolidList"/>
    <dgm:cxn modelId="{457E7663-7BDF-4097-BCE9-3C2D546B1CB1}" type="presOf" srcId="{DBD1DF8C-9CE9-4EB1-9FF7-A6FFA6191497}" destId="{8C93F7C3-2531-4777-827D-AE3AF9BFA856}" srcOrd="0" destOrd="0" presId="urn:microsoft.com/office/officeart/2018/2/layout/IconVerticalSolidList"/>
    <dgm:cxn modelId="{939ABA53-DAEE-43EC-A5E7-C07957B8954A}" type="presOf" srcId="{55CBA39E-126E-4F01-84EF-4312C745F962}" destId="{69F6E4BE-AE52-4041-B426-2E703D9D6A0B}" srcOrd="0" destOrd="0" presId="urn:microsoft.com/office/officeart/2018/2/layout/IconVerticalSolidList"/>
    <dgm:cxn modelId="{323880D6-02CF-447A-9979-A8A685476EC2}" srcId="{DBD1DF8C-9CE9-4EB1-9FF7-A6FFA6191497}" destId="{55CBA39E-126E-4F01-84EF-4312C745F962}" srcOrd="0" destOrd="0" parTransId="{EB9B1D9F-CD6F-4745-800E-4A274364096F}" sibTransId="{31C9BB9A-CAE7-4107-816B-D3324C515B6D}"/>
    <dgm:cxn modelId="{3E49F0FC-CF88-44B4-B20A-7DC9143D867C}" type="presParOf" srcId="{8C93F7C3-2531-4777-827D-AE3AF9BFA856}" destId="{C61C2C67-9134-47C7-9591-366FCB486E62}" srcOrd="0" destOrd="0" presId="urn:microsoft.com/office/officeart/2018/2/layout/IconVerticalSolidList"/>
    <dgm:cxn modelId="{7C34C54F-565B-46D3-BACC-11BEDD9E809E}" type="presParOf" srcId="{C61C2C67-9134-47C7-9591-366FCB486E62}" destId="{057E539E-E3AD-444D-A7D2-2B11FA3AB5E7}" srcOrd="0" destOrd="0" presId="urn:microsoft.com/office/officeart/2018/2/layout/IconVerticalSolidList"/>
    <dgm:cxn modelId="{20EA5257-3A58-4191-A673-11F792AE0C9D}" type="presParOf" srcId="{C61C2C67-9134-47C7-9591-366FCB486E62}" destId="{E8C91355-BF1E-4CC6-802C-94BC8470463B}" srcOrd="1" destOrd="0" presId="urn:microsoft.com/office/officeart/2018/2/layout/IconVerticalSolidList"/>
    <dgm:cxn modelId="{6C4D9979-D7CF-4207-BFD4-DBF1807A28C7}" type="presParOf" srcId="{C61C2C67-9134-47C7-9591-366FCB486E62}" destId="{459DDA35-830D-46DD-BC17-79FE98CAA2E2}" srcOrd="2" destOrd="0" presId="urn:microsoft.com/office/officeart/2018/2/layout/IconVerticalSolidList"/>
    <dgm:cxn modelId="{4CE92A46-3CF3-4AFC-82AC-A46F7892C573}" type="presParOf" srcId="{C61C2C67-9134-47C7-9591-366FCB486E62}" destId="{69F6E4BE-AE52-4041-B426-2E703D9D6A0B}" srcOrd="3" destOrd="0" presId="urn:microsoft.com/office/officeart/2018/2/layout/IconVerticalSolidList"/>
    <dgm:cxn modelId="{13420DFD-5F22-4E7C-A47B-9A976BFB94C3}" type="presParOf" srcId="{8C93F7C3-2531-4777-827D-AE3AF9BFA856}" destId="{40998ECF-C6F3-4DEB-9584-DF7EB918EC6C}" srcOrd="1" destOrd="0" presId="urn:microsoft.com/office/officeart/2018/2/layout/IconVerticalSolidList"/>
    <dgm:cxn modelId="{8F5A4375-CA9A-4FE4-90F6-398242703A32}" type="presParOf" srcId="{8C93F7C3-2531-4777-827D-AE3AF9BFA856}" destId="{9EFA5574-7DCE-4ABD-BB12-70FA2C07B585}" srcOrd="2" destOrd="0" presId="urn:microsoft.com/office/officeart/2018/2/layout/IconVerticalSolidList"/>
    <dgm:cxn modelId="{79E0E41E-FFD1-4488-89A5-DEBE422A55D8}" type="presParOf" srcId="{9EFA5574-7DCE-4ABD-BB12-70FA2C07B585}" destId="{6B7ADAD3-936D-4EC2-910D-0254C6D67BEA}" srcOrd="0" destOrd="0" presId="urn:microsoft.com/office/officeart/2018/2/layout/IconVerticalSolidList"/>
    <dgm:cxn modelId="{103753BF-C61B-46A0-9A97-AFD777D479A6}" type="presParOf" srcId="{9EFA5574-7DCE-4ABD-BB12-70FA2C07B585}" destId="{BAACD6EF-EA71-4339-9D44-B54E4A3B58F4}" srcOrd="1" destOrd="0" presId="urn:microsoft.com/office/officeart/2018/2/layout/IconVerticalSolidList"/>
    <dgm:cxn modelId="{103ADC7F-8951-4B59-B5CE-4B837443EC82}" type="presParOf" srcId="{9EFA5574-7DCE-4ABD-BB12-70FA2C07B585}" destId="{4498F5EE-8051-47E8-9579-9A12D474B3B8}" srcOrd="2" destOrd="0" presId="urn:microsoft.com/office/officeart/2018/2/layout/IconVerticalSolidList"/>
    <dgm:cxn modelId="{2957AD3F-2EC7-4D76-A03A-923432B1A05E}" type="presParOf" srcId="{9EFA5574-7DCE-4ABD-BB12-70FA2C07B585}" destId="{24CBC1E0-FF5D-4B9B-8085-83C6C0DC114C}" srcOrd="3" destOrd="0" presId="urn:microsoft.com/office/officeart/2018/2/layout/IconVerticalSolidList"/>
    <dgm:cxn modelId="{B812C2BE-E530-4A55-98F5-933C599A50D9}" type="presParOf" srcId="{8C93F7C3-2531-4777-827D-AE3AF9BFA856}" destId="{0E1F76A6-8161-4806-8004-214875462C1C}" srcOrd="3" destOrd="0" presId="urn:microsoft.com/office/officeart/2018/2/layout/IconVerticalSolidList"/>
    <dgm:cxn modelId="{D9E2FE21-1A3C-4319-B2DE-A583ADC08AA5}" type="presParOf" srcId="{8C93F7C3-2531-4777-827D-AE3AF9BFA856}" destId="{3C52825C-9DF6-49E3-959D-99BB03C09EC2}" srcOrd="4" destOrd="0" presId="urn:microsoft.com/office/officeart/2018/2/layout/IconVerticalSolidList"/>
    <dgm:cxn modelId="{CD919E65-0479-4D7D-B18E-B0422D5EEB30}" type="presParOf" srcId="{3C52825C-9DF6-49E3-959D-99BB03C09EC2}" destId="{9B77BE39-2B85-4DBD-8275-CE4BAD87FF43}" srcOrd="0" destOrd="0" presId="urn:microsoft.com/office/officeart/2018/2/layout/IconVerticalSolidList"/>
    <dgm:cxn modelId="{1AF0FECD-1739-49DE-865E-4F762D1E5093}" type="presParOf" srcId="{3C52825C-9DF6-49E3-959D-99BB03C09EC2}" destId="{6E532706-6003-46E7-BEB4-90E49633F634}" srcOrd="1" destOrd="0" presId="urn:microsoft.com/office/officeart/2018/2/layout/IconVerticalSolidList"/>
    <dgm:cxn modelId="{EBB5A386-326A-48FA-94F7-4074A09B3B1C}" type="presParOf" srcId="{3C52825C-9DF6-49E3-959D-99BB03C09EC2}" destId="{2E9169AD-61A6-4B88-8D62-87BBA7ADE8D9}" srcOrd="2" destOrd="0" presId="urn:microsoft.com/office/officeart/2018/2/layout/IconVerticalSolidList"/>
    <dgm:cxn modelId="{91456AF7-7D50-45B0-A7CB-3C52E53BED89}" type="presParOf" srcId="{3C52825C-9DF6-49E3-959D-99BB03C09EC2}" destId="{D863AB76-0FF9-45E6-A62E-D5BF92CC9143}"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97C2F2-0018-4EE3-BA78-2AE696CB0065}" type="doc">
      <dgm:prSet loTypeId="urn:microsoft.com/office/officeart/2005/8/layout/process4" loCatId="process" qsTypeId="urn:microsoft.com/office/officeart/2005/8/quickstyle/simple4" qsCatId="simple" csTypeId="urn:microsoft.com/office/officeart/2005/8/colors/accent2_2" csCatId="accent2" phldr="1"/>
      <dgm:spPr/>
      <dgm:t>
        <a:bodyPr/>
        <a:lstStyle/>
        <a:p>
          <a:endParaRPr lang="en-US"/>
        </a:p>
      </dgm:t>
    </dgm:pt>
    <dgm:pt modelId="{140D5E95-E72F-4B04-AF20-A1EA68659820}">
      <dgm:prSet/>
      <dgm:spPr/>
      <dgm:t>
        <a:bodyPr/>
        <a:lstStyle/>
        <a:p>
          <a:r>
            <a:rPr lang="en-US" b="1"/>
            <a:t>Recommendation: </a:t>
          </a:r>
          <a:r>
            <a:rPr lang="en-US"/>
            <a:t>Company-wide transition to Scrum-Agile.</a:t>
          </a:r>
        </a:p>
      </dgm:t>
    </dgm:pt>
    <dgm:pt modelId="{2B4FF110-8471-46C8-B712-16265AE07F76}" type="parTrans" cxnId="{A95310DD-A83C-4D57-9650-7D1880BF1798}">
      <dgm:prSet/>
      <dgm:spPr/>
      <dgm:t>
        <a:bodyPr/>
        <a:lstStyle/>
        <a:p>
          <a:endParaRPr lang="en-US"/>
        </a:p>
      </dgm:t>
    </dgm:pt>
    <dgm:pt modelId="{FCC306A6-F53C-4B1E-9631-7EC677FB3637}" type="sibTrans" cxnId="{A95310DD-A83C-4D57-9650-7D1880BF1798}">
      <dgm:prSet/>
      <dgm:spPr/>
      <dgm:t>
        <a:bodyPr/>
        <a:lstStyle/>
        <a:p>
          <a:endParaRPr lang="en-US"/>
        </a:p>
      </dgm:t>
    </dgm:pt>
    <dgm:pt modelId="{B57BE561-622E-4E1B-A69C-AC7D72D81E47}">
      <dgm:prSet/>
      <dgm:spPr/>
      <dgm:t>
        <a:bodyPr/>
        <a:lstStyle/>
        <a:p>
          <a:r>
            <a:rPr lang="en-US" b="1"/>
            <a:t>Outcomes expected:</a:t>
          </a:r>
          <a:endParaRPr lang="en-US"/>
        </a:p>
      </dgm:t>
    </dgm:pt>
    <dgm:pt modelId="{99C61DC6-1C75-48CE-ACDE-F5C2CF50C5E4}" type="parTrans" cxnId="{AE1E5BD5-E9C3-41CB-B41F-79AED7695426}">
      <dgm:prSet/>
      <dgm:spPr/>
      <dgm:t>
        <a:bodyPr/>
        <a:lstStyle/>
        <a:p>
          <a:endParaRPr lang="en-US"/>
        </a:p>
      </dgm:t>
    </dgm:pt>
    <dgm:pt modelId="{266B07AB-FBF5-4F2F-88EE-8FA3D83825AC}" type="sibTrans" cxnId="{AE1E5BD5-E9C3-41CB-B41F-79AED7695426}">
      <dgm:prSet/>
      <dgm:spPr/>
      <dgm:t>
        <a:bodyPr/>
        <a:lstStyle/>
        <a:p>
          <a:endParaRPr lang="en-US"/>
        </a:p>
      </dgm:t>
    </dgm:pt>
    <dgm:pt modelId="{D1CA1B96-191E-4ACE-A92D-88D114842EA4}">
      <dgm:prSet/>
      <dgm:spPr/>
      <dgm:t>
        <a:bodyPr/>
        <a:lstStyle/>
        <a:p>
          <a:r>
            <a:rPr lang="en-US" dirty="0"/>
            <a:t>Higher adaptability to client changes.</a:t>
          </a:r>
        </a:p>
      </dgm:t>
    </dgm:pt>
    <dgm:pt modelId="{CDF0C612-37BF-4713-B320-C8980A4A59C4}" type="parTrans" cxnId="{B43EC608-74F9-4983-AA8D-8208E335B79F}">
      <dgm:prSet/>
      <dgm:spPr/>
      <dgm:t>
        <a:bodyPr/>
        <a:lstStyle/>
        <a:p>
          <a:endParaRPr lang="en-US"/>
        </a:p>
      </dgm:t>
    </dgm:pt>
    <dgm:pt modelId="{F38B0121-2391-4B30-95E2-3FBE18D2412E}" type="sibTrans" cxnId="{B43EC608-74F9-4983-AA8D-8208E335B79F}">
      <dgm:prSet/>
      <dgm:spPr/>
      <dgm:t>
        <a:bodyPr/>
        <a:lstStyle/>
        <a:p>
          <a:endParaRPr lang="en-US"/>
        </a:p>
      </dgm:t>
    </dgm:pt>
    <dgm:pt modelId="{9BA968EC-849C-44D6-B7F6-66874CE031A4}">
      <dgm:prSet/>
      <dgm:spPr/>
      <dgm:t>
        <a:bodyPr/>
        <a:lstStyle/>
        <a:p>
          <a:r>
            <a:rPr lang="en-US" dirty="0"/>
            <a:t>Reduced risk of delivering outdated products.</a:t>
          </a:r>
        </a:p>
      </dgm:t>
    </dgm:pt>
    <dgm:pt modelId="{F2B236D0-3138-4C12-900A-3BABCB3065F2}" type="parTrans" cxnId="{D216CD6D-BA5B-49F9-A594-FE2C859EF8FD}">
      <dgm:prSet/>
      <dgm:spPr/>
      <dgm:t>
        <a:bodyPr/>
        <a:lstStyle/>
        <a:p>
          <a:endParaRPr lang="en-US"/>
        </a:p>
      </dgm:t>
    </dgm:pt>
    <dgm:pt modelId="{F0BE0E90-73D6-40F5-97AD-57EF9223F9D7}" type="sibTrans" cxnId="{D216CD6D-BA5B-49F9-A594-FE2C859EF8FD}">
      <dgm:prSet/>
      <dgm:spPr/>
      <dgm:t>
        <a:bodyPr/>
        <a:lstStyle/>
        <a:p>
          <a:endParaRPr lang="en-US"/>
        </a:p>
      </dgm:t>
    </dgm:pt>
    <dgm:pt modelId="{F840CA2E-40F3-4C6F-966F-1EED62E91ABB}">
      <dgm:prSet/>
      <dgm:spPr/>
      <dgm:t>
        <a:bodyPr/>
        <a:lstStyle/>
        <a:p>
          <a:r>
            <a:rPr lang="en-US" dirty="0"/>
            <a:t>Enhanced communication via Daily Scrums </a:t>
          </a:r>
        </a:p>
      </dgm:t>
    </dgm:pt>
    <dgm:pt modelId="{197CD45E-8A09-40AF-B87E-4F756A823F1D}" type="parTrans" cxnId="{BA9B2129-0228-4D68-A80D-CD957837EC8F}">
      <dgm:prSet/>
      <dgm:spPr/>
      <dgm:t>
        <a:bodyPr/>
        <a:lstStyle/>
        <a:p>
          <a:endParaRPr lang="en-US"/>
        </a:p>
      </dgm:t>
    </dgm:pt>
    <dgm:pt modelId="{E3B26F04-B4B1-48E7-B30C-14736F8A7F32}" type="sibTrans" cxnId="{BA9B2129-0228-4D68-A80D-CD957837EC8F}">
      <dgm:prSet/>
      <dgm:spPr/>
      <dgm:t>
        <a:bodyPr/>
        <a:lstStyle/>
        <a:p>
          <a:endParaRPr lang="en-US"/>
        </a:p>
      </dgm:t>
    </dgm:pt>
    <dgm:pt modelId="{DA61A7F3-90ED-47F6-919D-533B64127C91}" type="pres">
      <dgm:prSet presAssocID="{E497C2F2-0018-4EE3-BA78-2AE696CB0065}" presName="Name0" presStyleCnt="0">
        <dgm:presLayoutVars>
          <dgm:dir/>
          <dgm:animLvl val="lvl"/>
          <dgm:resizeHandles val="exact"/>
        </dgm:presLayoutVars>
      </dgm:prSet>
      <dgm:spPr/>
    </dgm:pt>
    <dgm:pt modelId="{7C68C330-5A40-43E0-9806-FA269487521A}" type="pres">
      <dgm:prSet presAssocID="{B57BE561-622E-4E1B-A69C-AC7D72D81E47}" presName="boxAndChildren" presStyleCnt="0"/>
      <dgm:spPr/>
    </dgm:pt>
    <dgm:pt modelId="{0FF00F73-290C-495C-8A35-596BDD4A61E3}" type="pres">
      <dgm:prSet presAssocID="{B57BE561-622E-4E1B-A69C-AC7D72D81E47}" presName="parentTextBox" presStyleLbl="node1" presStyleIdx="0" presStyleCnt="2"/>
      <dgm:spPr/>
    </dgm:pt>
    <dgm:pt modelId="{65BD714F-1751-4329-A361-A008FCDCC26D}" type="pres">
      <dgm:prSet presAssocID="{B57BE561-622E-4E1B-A69C-AC7D72D81E47}" presName="entireBox" presStyleLbl="node1" presStyleIdx="0" presStyleCnt="2"/>
      <dgm:spPr/>
    </dgm:pt>
    <dgm:pt modelId="{44E3FE4C-9EA8-4272-AA49-C58F2D9E3600}" type="pres">
      <dgm:prSet presAssocID="{B57BE561-622E-4E1B-A69C-AC7D72D81E47}" presName="descendantBox" presStyleCnt="0"/>
      <dgm:spPr/>
    </dgm:pt>
    <dgm:pt modelId="{5D98D742-82F2-44D1-A806-97E90C082B2B}" type="pres">
      <dgm:prSet presAssocID="{D1CA1B96-191E-4ACE-A92D-88D114842EA4}" presName="childTextBox" presStyleLbl="fgAccFollowNode1" presStyleIdx="0" presStyleCnt="3">
        <dgm:presLayoutVars>
          <dgm:bulletEnabled val="1"/>
        </dgm:presLayoutVars>
      </dgm:prSet>
      <dgm:spPr/>
    </dgm:pt>
    <dgm:pt modelId="{5AAB1003-0BA8-4D3E-83B6-41A554EF4B8B}" type="pres">
      <dgm:prSet presAssocID="{9BA968EC-849C-44D6-B7F6-66874CE031A4}" presName="childTextBox" presStyleLbl="fgAccFollowNode1" presStyleIdx="1" presStyleCnt="3">
        <dgm:presLayoutVars>
          <dgm:bulletEnabled val="1"/>
        </dgm:presLayoutVars>
      </dgm:prSet>
      <dgm:spPr/>
    </dgm:pt>
    <dgm:pt modelId="{652F9F55-DC7D-4F19-AA8B-E9EAC9D739A5}" type="pres">
      <dgm:prSet presAssocID="{F840CA2E-40F3-4C6F-966F-1EED62E91ABB}" presName="childTextBox" presStyleLbl="fgAccFollowNode1" presStyleIdx="2" presStyleCnt="3">
        <dgm:presLayoutVars>
          <dgm:bulletEnabled val="1"/>
        </dgm:presLayoutVars>
      </dgm:prSet>
      <dgm:spPr/>
    </dgm:pt>
    <dgm:pt modelId="{F909ADED-AAE9-4F25-AA03-48BE70266463}" type="pres">
      <dgm:prSet presAssocID="{FCC306A6-F53C-4B1E-9631-7EC677FB3637}" presName="sp" presStyleCnt="0"/>
      <dgm:spPr/>
    </dgm:pt>
    <dgm:pt modelId="{9FFDBCEE-FDF4-4A32-A38A-BAEFF90BCC7A}" type="pres">
      <dgm:prSet presAssocID="{140D5E95-E72F-4B04-AF20-A1EA68659820}" presName="arrowAndChildren" presStyleCnt="0"/>
      <dgm:spPr/>
    </dgm:pt>
    <dgm:pt modelId="{05D0AC37-2492-4A59-A5B7-015FD2FAD841}" type="pres">
      <dgm:prSet presAssocID="{140D5E95-E72F-4B04-AF20-A1EA68659820}" presName="parentTextArrow" presStyleLbl="node1" presStyleIdx="1" presStyleCnt="2"/>
      <dgm:spPr/>
    </dgm:pt>
  </dgm:ptLst>
  <dgm:cxnLst>
    <dgm:cxn modelId="{301D9604-34B4-4296-A831-D7400403AAD4}" type="presOf" srcId="{B57BE561-622E-4E1B-A69C-AC7D72D81E47}" destId="{65BD714F-1751-4329-A361-A008FCDCC26D}" srcOrd="1" destOrd="0" presId="urn:microsoft.com/office/officeart/2005/8/layout/process4"/>
    <dgm:cxn modelId="{B43EC608-74F9-4983-AA8D-8208E335B79F}" srcId="{B57BE561-622E-4E1B-A69C-AC7D72D81E47}" destId="{D1CA1B96-191E-4ACE-A92D-88D114842EA4}" srcOrd="0" destOrd="0" parTransId="{CDF0C612-37BF-4713-B320-C8980A4A59C4}" sibTransId="{F38B0121-2391-4B30-95E2-3FBE18D2412E}"/>
    <dgm:cxn modelId="{BA9B2129-0228-4D68-A80D-CD957837EC8F}" srcId="{B57BE561-622E-4E1B-A69C-AC7D72D81E47}" destId="{F840CA2E-40F3-4C6F-966F-1EED62E91ABB}" srcOrd="2" destOrd="0" parTransId="{197CD45E-8A09-40AF-B87E-4F756A823F1D}" sibTransId="{E3B26F04-B4B1-48E7-B30C-14736F8A7F32}"/>
    <dgm:cxn modelId="{6E84532A-1144-4F17-9B22-9E67EC34E0B8}" type="presOf" srcId="{9BA968EC-849C-44D6-B7F6-66874CE031A4}" destId="{5AAB1003-0BA8-4D3E-83B6-41A554EF4B8B}" srcOrd="0" destOrd="0" presId="urn:microsoft.com/office/officeart/2005/8/layout/process4"/>
    <dgm:cxn modelId="{D6D81A3B-E030-4CD3-BFB7-C7D2DF63DC02}" type="presOf" srcId="{140D5E95-E72F-4B04-AF20-A1EA68659820}" destId="{05D0AC37-2492-4A59-A5B7-015FD2FAD841}" srcOrd="0" destOrd="0" presId="urn:microsoft.com/office/officeart/2005/8/layout/process4"/>
    <dgm:cxn modelId="{D216CD6D-BA5B-49F9-A594-FE2C859EF8FD}" srcId="{B57BE561-622E-4E1B-A69C-AC7D72D81E47}" destId="{9BA968EC-849C-44D6-B7F6-66874CE031A4}" srcOrd="1" destOrd="0" parTransId="{F2B236D0-3138-4C12-900A-3BABCB3065F2}" sibTransId="{F0BE0E90-73D6-40F5-97AD-57EF9223F9D7}"/>
    <dgm:cxn modelId="{A70D467F-6184-4234-8626-A855779ABECE}" type="presOf" srcId="{B57BE561-622E-4E1B-A69C-AC7D72D81E47}" destId="{0FF00F73-290C-495C-8A35-596BDD4A61E3}" srcOrd="0" destOrd="0" presId="urn:microsoft.com/office/officeart/2005/8/layout/process4"/>
    <dgm:cxn modelId="{00D24A84-5D62-47D2-BFD4-56B40CD7EAC5}" type="presOf" srcId="{D1CA1B96-191E-4ACE-A92D-88D114842EA4}" destId="{5D98D742-82F2-44D1-A806-97E90C082B2B}" srcOrd="0" destOrd="0" presId="urn:microsoft.com/office/officeart/2005/8/layout/process4"/>
    <dgm:cxn modelId="{856576C5-DD2A-4DFB-8744-37F143B99DE1}" type="presOf" srcId="{F840CA2E-40F3-4C6F-966F-1EED62E91ABB}" destId="{652F9F55-DC7D-4F19-AA8B-E9EAC9D739A5}" srcOrd="0" destOrd="0" presId="urn:microsoft.com/office/officeart/2005/8/layout/process4"/>
    <dgm:cxn modelId="{AE1E5BD5-E9C3-41CB-B41F-79AED7695426}" srcId="{E497C2F2-0018-4EE3-BA78-2AE696CB0065}" destId="{B57BE561-622E-4E1B-A69C-AC7D72D81E47}" srcOrd="1" destOrd="0" parTransId="{99C61DC6-1C75-48CE-ACDE-F5C2CF50C5E4}" sibTransId="{266B07AB-FBF5-4F2F-88EE-8FA3D83825AC}"/>
    <dgm:cxn modelId="{69B42FDA-3779-4709-93E3-DFB609DF4FEC}" type="presOf" srcId="{E497C2F2-0018-4EE3-BA78-2AE696CB0065}" destId="{DA61A7F3-90ED-47F6-919D-533B64127C91}" srcOrd="0" destOrd="0" presId="urn:microsoft.com/office/officeart/2005/8/layout/process4"/>
    <dgm:cxn modelId="{A95310DD-A83C-4D57-9650-7D1880BF1798}" srcId="{E497C2F2-0018-4EE3-BA78-2AE696CB0065}" destId="{140D5E95-E72F-4B04-AF20-A1EA68659820}" srcOrd="0" destOrd="0" parTransId="{2B4FF110-8471-46C8-B712-16265AE07F76}" sibTransId="{FCC306A6-F53C-4B1E-9631-7EC677FB3637}"/>
    <dgm:cxn modelId="{D145BF64-EC1E-48B4-AC36-1E888BD56CC7}" type="presParOf" srcId="{DA61A7F3-90ED-47F6-919D-533B64127C91}" destId="{7C68C330-5A40-43E0-9806-FA269487521A}" srcOrd="0" destOrd="0" presId="urn:microsoft.com/office/officeart/2005/8/layout/process4"/>
    <dgm:cxn modelId="{BB1B23C4-1A7F-4550-A3C5-8A5CE11D1972}" type="presParOf" srcId="{7C68C330-5A40-43E0-9806-FA269487521A}" destId="{0FF00F73-290C-495C-8A35-596BDD4A61E3}" srcOrd="0" destOrd="0" presId="urn:microsoft.com/office/officeart/2005/8/layout/process4"/>
    <dgm:cxn modelId="{5A09C0FA-D7FA-488F-85F1-98FF89AA6E22}" type="presParOf" srcId="{7C68C330-5A40-43E0-9806-FA269487521A}" destId="{65BD714F-1751-4329-A361-A008FCDCC26D}" srcOrd="1" destOrd="0" presId="urn:microsoft.com/office/officeart/2005/8/layout/process4"/>
    <dgm:cxn modelId="{1684054F-ED86-4305-8D6B-6CFFAB68E12B}" type="presParOf" srcId="{7C68C330-5A40-43E0-9806-FA269487521A}" destId="{44E3FE4C-9EA8-4272-AA49-C58F2D9E3600}" srcOrd="2" destOrd="0" presId="urn:microsoft.com/office/officeart/2005/8/layout/process4"/>
    <dgm:cxn modelId="{2596B75C-8678-467D-9C3E-E81D057ABFC3}" type="presParOf" srcId="{44E3FE4C-9EA8-4272-AA49-C58F2D9E3600}" destId="{5D98D742-82F2-44D1-A806-97E90C082B2B}" srcOrd="0" destOrd="0" presId="urn:microsoft.com/office/officeart/2005/8/layout/process4"/>
    <dgm:cxn modelId="{796E38E7-7FC3-42E3-81FC-8E29FC4B677A}" type="presParOf" srcId="{44E3FE4C-9EA8-4272-AA49-C58F2D9E3600}" destId="{5AAB1003-0BA8-4D3E-83B6-41A554EF4B8B}" srcOrd="1" destOrd="0" presId="urn:microsoft.com/office/officeart/2005/8/layout/process4"/>
    <dgm:cxn modelId="{7A11608A-F135-4B1B-B861-641C953B02E2}" type="presParOf" srcId="{44E3FE4C-9EA8-4272-AA49-C58F2D9E3600}" destId="{652F9F55-DC7D-4F19-AA8B-E9EAC9D739A5}" srcOrd="2" destOrd="0" presId="urn:microsoft.com/office/officeart/2005/8/layout/process4"/>
    <dgm:cxn modelId="{4C89D237-C1B7-413C-80B5-E30785366105}" type="presParOf" srcId="{DA61A7F3-90ED-47F6-919D-533B64127C91}" destId="{F909ADED-AAE9-4F25-AA03-48BE70266463}" srcOrd="1" destOrd="0" presId="urn:microsoft.com/office/officeart/2005/8/layout/process4"/>
    <dgm:cxn modelId="{1488E8E8-DF30-4BEE-8CCC-48172E622C4F}" type="presParOf" srcId="{DA61A7F3-90ED-47F6-919D-533B64127C91}" destId="{9FFDBCEE-FDF4-4A32-A38A-BAEFF90BCC7A}" srcOrd="2" destOrd="0" presId="urn:microsoft.com/office/officeart/2005/8/layout/process4"/>
    <dgm:cxn modelId="{630A8A64-3E8F-42F3-BC56-556276C21900}" type="presParOf" srcId="{9FFDBCEE-FDF4-4A32-A38A-BAEFF90BCC7A}" destId="{05D0AC37-2492-4A59-A5B7-015FD2FAD841}"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51D946-60FE-4851-BAF8-A3DB5F831929}">
      <dsp:nvSpPr>
        <dsp:cNvPr id="0" name=""/>
        <dsp:cNvSpPr/>
      </dsp:nvSpPr>
      <dsp:spPr>
        <a:xfrm>
          <a:off x="0" y="434176"/>
          <a:ext cx="2194661" cy="139361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5E6D9C-8ED2-4F30-B336-6520597072AE}">
      <dsp:nvSpPr>
        <dsp:cNvPr id="0" name=""/>
        <dsp:cNvSpPr/>
      </dsp:nvSpPr>
      <dsp:spPr>
        <a:xfrm>
          <a:off x="243851" y="665834"/>
          <a:ext cx="2194661" cy="139361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Product Owner: </a:t>
          </a:r>
          <a:r>
            <a:rPr lang="en-US" sz="1700" kern="1200"/>
            <a:t>Maximizes business value; manages the Product Backlog.</a:t>
          </a:r>
        </a:p>
      </dsp:txBody>
      <dsp:txXfrm>
        <a:off x="284668" y="706651"/>
        <a:ext cx="2113027" cy="1311976"/>
      </dsp:txXfrm>
    </dsp:sp>
    <dsp:sp modelId="{BE16ED62-B203-4E62-BF7D-C640F9A44E53}">
      <dsp:nvSpPr>
        <dsp:cNvPr id="0" name=""/>
        <dsp:cNvSpPr/>
      </dsp:nvSpPr>
      <dsp:spPr>
        <a:xfrm>
          <a:off x="2682364" y="434176"/>
          <a:ext cx="2194661" cy="139361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45D4FC-1546-4CF1-9E40-FBFFB4BEC577}">
      <dsp:nvSpPr>
        <dsp:cNvPr id="0" name=""/>
        <dsp:cNvSpPr/>
      </dsp:nvSpPr>
      <dsp:spPr>
        <a:xfrm>
          <a:off x="2926215" y="665834"/>
          <a:ext cx="2194661" cy="139361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Development Team: </a:t>
          </a:r>
          <a:r>
            <a:rPr lang="en-US" sz="1700" kern="1200"/>
            <a:t>Cross-functional group executing technical work.</a:t>
          </a:r>
        </a:p>
      </dsp:txBody>
      <dsp:txXfrm>
        <a:off x="2967032" y="706651"/>
        <a:ext cx="2113027" cy="1311976"/>
      </dsp:txXfrm>
    </dsp:sp>
    <dsp:sp modelId="{449E5933-B41F-4F03-8A51-BBE95E7A1CD4}">
      <dsp:nvSpPr>
        <dsp:cNvPr id="0" name=""/>
        <dsp:cNvSpPr/>
      </dsp:nvSpPr>
      <dsp:spPr>
        <a:xfrm>
          <a:off x="5364728" y="434176"/>
          <a:ext cx="2194661" cy="139361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822929-864E-446C-ADD0-ADC14C18BB0E}">
      <dsp:nvSpPr>
        <dsp:cNvPr id="0" name=""/>
        <dsp:cNvSpPr/>
      </dsp:nvSpPr>
      <dsp:spPr>
        <a:xfrm>
          <a:off x="5608580" y="665834"/>
          <a:ext cx="2194661" cy="139361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Scrum Master: </a:t>
          </a:r>
          <a:r>
            <a:rPr lang="en-US" sz="1700" kern="1200"/>
            <a:t>Facilitates the process; removes team roadblocks.</a:t>
          </a:r>
        </a:p>
      </dsp:txBody>
      <dsp:txXfrm>
        <a:off x="5649397" y="706651"/>
        <a:ext cx="2113027" cy="13119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E539E-E3AD-444D-A7D2-2B11FA3AB5E7}">
      <dsp:nvSpPr>
        <dsp:cNvPr id="0" name=""/>
        <dsp:cNvSpPr/>
      </dsp:nvSpPr>
      <dsp:spPr>
        <a:xfrm>
          <a:off x="0" y="417"/>
          <a:ext cx="5461095" cy="9762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C91355-BF1E-4CC6-802C-94BC8470463B}">
      <dsp:nvSpPr>
        <dsp:cNvPr id="0" name=""/>
        <dsp:cNvSpPr/>
      </dsp:nvSpPr>
      <dsp:spPr>
        <a:xfrm>
          <a:off x="295307" y="220067"/>
          <a:ext cx="536922" cy="5369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9F6E4BE-AE52-4041-B426-2E703D9D6A0B}">
      <dsp:nvSpPr>
        <dsp:cNvPr id="0" name=""/>
        <dsp:cNvSpPr/>
      </dsp:nvSpPr>
      <dsp:spPr>
        <a:xfrm>
          <a:off x="1127536" y="417"/>
          <a:ext cx="4333558" cy="9762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317" tIns="103317" rIns="103317" bIns="103317" numCol="1" spcCol="1270" anchor="ctr" anchorCtr="0">
          <a:noAutofit/>
        </a:bodyPr>
        <a:lstStyle/>
        <a:p>
          <a:pPr marL="0" lvl="0" indent="0" algn="l" defTabSz="755650">
            <a:lnSpc>
              <a:spcPct val="100000"/>
            </a:lnSpc>
            <a:spcBef>
              <a:spcPct val="0"/>
            </a:spcBef>
            <a:spcAft>
              <a:spcPct val="35000"/>
            </a:spcAft>
            <a:buNone/>
          </a:pPr>
          <a:r>
            <a:rPr lang="en-US" sz="1700" b="1" i="1" kern="1200" dirty="0">
              <a:latin typeface="Arial" panose="020B0604020202020204" pitchFamily="34" charset="0"/>
              <a:cs typeface="Arial" panose="020B0604020202020204" pitchFamily="34" charset="0"/>
            </a:rPr>
            <a:t>The Pivot: </a:t>
          </a:r>
          <a:r>
            <a:rPr lang="en-US" sz="1700" i="1" kern="1200" dirty="0">
              <a:latin typeface="Arial" panose="020B0604020202020204" pitchFamily="34" charset="0"/>
              <a:cs typeface="Arial" panose="020B0604020202020204" pitchFamily="34" charset="0"/>
            </a:rPr>
            <a:t>Sudden client request for 'Detox/Wellness' features.</a:t>
          </a:r>
        </a:p>
      </dsp:txBody>
      <dsp:txXfrm>
        <a:off x="1127536" y="417"/>
        <a:ext cx="4333558" cy="976221"/>
      </dsp:txXfrm>
    </dsp:sp>
    <dsp:sp modelId="{6B7ADAD3-936D-4EC2-910D-0254C6D67BEA}">
      <dsp:nvSpPr>
        <dsp:cNvPr id="0" name=""/>
        <dsp:cNvSpPr/>
      </dsp:nvSpPr>
      <dsp:spPr>
        <a:xfrm>
          <a:off x="0" y="1220694"/>
          <a:ext cx="5461095" cy="9762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ACD6EF-EA71-4339-9D44-B54E4A3B58F4}">
      <dsp:nvSpPr>
        <dsp:cNvPr id="0" name=""/>
        <dsp:cNvSpPr/>
      </dsp:nvSpPr>
      <dsp:spPr>
        <a:xfrm>
          <a:off x="295307" y="1440344"/>
          <a:ext cx="536922" cy="5369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4CBC1E0-FF5D-4B9B-8085-83C6C0DC114C}">
      <dsp:nvSpPr>
        <dsp:cNvPr id="0" name=""/>
        <dsp:cNvSpPr/>
      </dsp:nvSpPr>
      <dsp:spPr>
        <a:xfrm>
          <a:off x="1127536" y="1220694"/>
          <a:ext cx="4333558" cy="9762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317" tIns="103317" rIns="103317" bIns="103317" numCol="1" spcCol="1270" anchor="ctr" anchorCtr="0">
          <a:noAutofit/>
        </a:bodyPr>
        <a:lstStyle/>
        <a:p>
          <a:pPr marL="0" lvl="0" indent="0" algn="l" defTabSz="755650">
            <a:lnSpc>
              <a:spcPct val="100000"/>
            </a:lnSpc>
            <a:spcBef>
              <a:spcPct val="0"/>
            </a:spcBef>
            <a:spcAft>
              <a:spcPct val="35000"/>
            </a:spcAft>
            <a:buNone/>
          </a:pPr>
          <a:r>
            <a:rPr lang="en-US" sz="1700" b="1" kern="1200">
              <a:latin typeface="Arial" panose="020B0604020202020204" pitchFamily="34" charset="0"/>
              <a:cs typeface="Arial" panose="020B0604020202020204" pitchFamily="34" charset="0"/>
            </a:rPr>
            <a:t>Waterfall Impact: </a:t>
          </a:r>
          <a:r>
            <a:rPr lang="en-US" sz="1700" kern="1200">
              <a:latin typeface="Arial" panose="020B0604020202020204" pitchFamily="34" charset="0"/>
              <a:cs typeface="Arial" panose="020B0604020202020204" pitchFamily="34" charset="0"/>
            </a:rPr>
            <a:t>Halted production, formal change requests, delayed release.</a:t>
          </a:r>
        </a:p>
      </dsp:txBody>
      <dsp:txXfrm>
        <a:off x="1127536" y="1220694"/>
        <a:ext cx="4333558" cy="976221"/>
      </dsp:txXfrm>
    </dsp:sp>
    <dsp:sp modelId="{9B77BE39-2B85-4DBD-8275-CE4BAD87FF43}">
      <dsp:nvSpPr>
        <dsp:cNvPr id="0" name=""/>
        <dsp:cNvSpPr/>
      </dsp:nvSpPr>
      <dsp:spPr>
        <a:xfrm>
          <a:off x="0" y="2440971"/>
          <a:ext cx="5461095" cy="9762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532706-6003-46E7-BEB4-90E49633F634}">
      <dsp:nvSpPr>
        <dsp:cNvPr id="0" name=""/>
        <dsp:cNvSpPr/>
      </dsp:nvSpPr>
      <dsp:spPr>
        <a:xfrm>
          <a:off x="295307" y="2660621"/>
          <a:ext cx="536922" cy="5369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863AB76-0FF9-45E6-A62E-D5BF92CC9143}">
      <dsp:nvSpPr>
        <dsp:cNvPr id="0" name=""/>
        <dsp:cNvSpPr/>
      </dsp:nvSpPr>
      <dsp:spPr>
        <a:xfrm>
          <a:off x="1127536" y="2440971"/>
          <a:ext cx="4333558" cy="9762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317" tIns="103317" rIns="103317" bIns="103317" numCol="1" spcCol="1270" anchor="ctr" anchorCtr="0">
          <a:noAutofit/>
        </a:bodyPr>
        <a:lstStyle/>
        <a:p>
          <a:pPr marL="0" lvl="0" indent="0" algn="l" defTabSz="755650">
            <a:lnSpc>
              <a:spcPct val="100000"/>
            </a:lnSpc>
            <a:spcBef>
              <a:spcPct val="0"/>
            </a:spcBef>
            <a:spcAft>
              <a:spcPct val="35000"/>
            </a:spcAft>
            <a:buNone/>
          </a:pPr>
          <a:r>
            <a:rPr lang="en-US" sz="1700" b="1" kern="1200" dirty="0">
              <a:latin typeface="Arial" panose="020B0604020202020204" pitchFamily="34" charset="0"/>
              <a:cs typeface="Arial" panose="020B0604020202020204" pitchFamily="34" charset="0"/>
            </a:rPr>
            <a:t>Agile Solution: </a:t>
          </a:r>
          <a:r>
            <a:rPr lang="en-US" sz="1700" kern="1200" dirty="0">
              <a:latin typeface="Arial" panose="020B0604020202020204" pitchFamily="34" charset="0"/>
              <a:cs typeface="Arial" panose="020B0604020202020204" pitchFamily="34" charset="0"/>
            </a:rPr>
            <a:t>Backlog reprioritized; code adapted seamlessly in the next sprint.</a:t>
          </a:r>
        </a:p>
      </dsp:txBody>
      <dsp:txXfrm>
        <a:off x="1127536" y="2440971"/>
        <a:ext cx="4333558" cy="9762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BD714F-1751-4329-A361-A008FCDCC26D}">
      <dsp:nvSpPr>
        <dsp:cNvPr id="0" name=""/>
        <dsp:cNvSpPr/>
      </dsp:nvSpPr>
      <dsp:spPr>
        <a:xfrm>
          <a:off x="0" y="2236294"/>
          <a:ext cx="6798539" cy="146725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b="1" kern="1200"/>
            <a:t>Outcomes expected:</a:t>
          </a:r>
          <a:endParaRPr lang="en-US" sz="2800" kern="1200"/>
        </a:p>
      </dsp:txBody>
      <dsp:txXfrm>
        <a:off x="0" y="2236294"/>
        <a:ext cx="6798539" cy="792315"/>
      </dsp:txXfrm>
    </dsp:sp>
    <dsp:sp modelId="{5D98D742-82F2-44D1-A806-97E90C082B2B}">
      <dsp:nvSpPr>
        <dsp:cNvPr id="0" name=""/>
        <dsp:cNvSpPr/>
      </dsp:nvSpPr>
      <dsp:spPr>
        <a:xfrm>
          <a:off x="3319" y="2999265"/>
          <a:ext cx="2263966" cy="674935"/>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t>Higher adaptability to client changes.</a:t>
          </a:r>
        </a:p>
      </dsp:txBody>
      <dsp:txXfrm>
        <a:off x="3319" y="2999265"/>
        <a:ext cx="2263966" cy="674935"/>
      </dsp:txXfrm>
    </dsp:sp>
    <dsp:sp modelId="{5AAB1003-0BA8-4D3E-83B6-41A554EF4B8B}">
      <dsp:nvSpPr>
        <dsp:cNvPr id="0" name=""/>
        <dsp:cNvSpPr/>
      </dsp:nvSpPr>
      <dsp:spPr>
        <a:xfrm>
          <a:off x="2267286" y="2999265"/>
          <a:ext cx="2263966" cy="674935"/>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t>Reduced risk of delivering outdated products.</a:t>
          </a:r>
        </a:p>
      </dsp:txBody>
      <dsp:txXfrm>
        <a:off x="2267286" y="2999265"/>
        <a:ext cx="2263966" cy="674935"/>
      </dsp:txXfrm>
    </dsp:sp>
    <dsp:sp modelId="{652F9F55-DC7D-4F19-AA8B-E9EAC9D739A5}">
      <dsp:nvSpPr>
        <dsp:cNvPr id="0" name=""/>
        <dsp:cNvSpPr/>
      </dsp:nvSpPr>
      <dsp:spPr>
        <a:xfrm>
          <a:off x="4531252" y="2999265"/>
          <a:ext cx="2263966" cy="674935"/>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dirty="0"/>
            <a:t>Enhanced communication via Daily Scrums </a:t>
          </a:r>
        </a:p>
      </dsp:txBody>
      <dsp:txXfrm>
        <a:off x="4531252" y="2999265"/>
        <a:ext cx="2263966" cy="674935"/>
      </dsp:txXfrm>
    </dsp:sp>
    <dsp:sp modelId="{05D0AC37-2492-4A59-A5B7-015FD2FAD841}">
      <dsp:nvSpPr>
        <dsp:cNvPr id="0" name=""/>
        <dsp:cNvSpPr/>
      </dsp:nvSpPr>
      <dsp:spPr>
        <a:xfrm rot="10800000">
          <a:off x="0" y="1670"/>
          <a:ext cx="6798539" cy="2256632"/>
        </a:xfrm>
        <a:prstGeom prst="upArrowCallou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b="1" kern="1200"/>
            <a:t>Recommendation: </a:t>
          </a:r>
          <a:r>
            <a:rPr lang="en-US" sz="2800" kern="1200"/>
            <a:t>Company-wide transition to Scrum-Agile.</a:t>
          </a:r>
        </a:p>
      </dsp:txBody>
      <dsp:txXfrm rot="10800000">
        <a:off x="0" y="1670"/>
        <a:ext cx="6798539" cy="146629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D936D5-DCB8-41F9-B9F2-5AAE1D0F4B0C}"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A0A505-D9D9-48CA-AD17-DCF76B718F88}" type="slidenum">
              <a:rPr lang="en-US" smtClean="0"/>
              <a:t>‹#›</a:t>
            </a:fld>
            <a:endParaRPr lang="en-US"/>
          </a:p>
        </p:txBody>
      </p:sp>
    </p:spTree>
    <p:extLst>
      <p:ext uri="{BB962C8B-B14F-4D97-AF65-F5344CB8AC3E}">
        <p14:creationId xmlns:p14="http://schemas.microsoft.com/office/powerpoint/2010/main" val="1885337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I’m here today to share the outcomes of the SNHU Travel pilot project. We utilized a Scrum-Agile framework to build this application, and I will be using our real-world experiences to demonstrate why transitioning our Chada Tech development teams away from Waterfall will secure our competitive advantage.</a:t>
            </a:r>
          </a:p>
        </p:txBody>
      </p:sp>
      <p:sp>
        <p:nvSpPr>
          <p:cNvPr id="4" name="Slide Number Placeholder 3"/>
          <p:cNvSpPr>
            <a:spLocks noGrp="1"/>
          </p:cNvSpPr>
          <p:nvPr>
            <p:ph type="sldNum" sz="quarter" idx="5"/>
          </p:nvPr>
        </p:nvSpPr>
        <p:spPr/>
        <p:txBody>
          <a:bodyPr/>
          <a:lstStyle/>
          <a:p>
            <a:fld id="{6FA0A505-D9D9-48CA-AD17-DCF76B718F88}" type="slidenum">
              <a:rPr lang="en-US" smtClean="0"/>
              <a:t>1</a:t>
            </a:fld>
            <a:endParaRPr lang="en-US"/>
          </a:p>
        </p:txBody>
      </p:sp>
    </p:spTree>
    <p:extLst>
      <p:ext uri="{BB962C8B-B14F-4D97-AF65-F5344CB8AC3E}">
        <p14:creationId xmlns:p14="http://schemas.microsoft.com/office/powerpoint/2010/main" val="3002728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Shifting to Agile solves our biggest developmental bottlenecks. It accelerates our time-to-market, mitigates the risk of massive late-stage bugs, and ensures our final product actually match what the client needs today and not what they asked for six months ago.</a:t>
            </a:r>
          </a:p>
        </p:txBody>
      </p:sp>
      <p:sp>
        <p:nvSpPr>
          <p:cNvPr id="4" name="Slide Number Placeholder 3"/>
          <p:cNvSpPr>
            <a:spLocks noGrp="1"/>
          </p:cNvSpPr>
          <p:nvPr>
            <p:ph type="sldNum" sz="quarter" idx="5"/>
          </p:nvPr>
        </p:nvSpPr>
        <p:spPr/>
        <p:txBody>
          <a:bodyPr/>
          <a:lstStyle/>
          <a:p>
            <a:fld id="{6FA0A505-D9D9-48CA-AD17-DCF76B718F88}" type="slidenum">
              <a:rPr lang="en-US" smtClean="0"/>
              <a:t>2</a:t>
            </a:fld>
            <a:endParaRPr lang="en-US"/>
          </a:p>
        </p:txBody>
      </p:sp>
    </p:spTree>
    <p:extLst>
      <p:ext uri="{BB962C8B-B14F-4D97-AF65-F5344CB8AC3E}">
        <p14:creationId xmlns:p14="http://schemas.microsoft.com/office/powerpoint/2010/main" val="2595085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Agile advantage, we must look at our current standard. Waterfall. It is a linear Software Development Life Cycle. We gather all requirements, design the whole system, code it, and then test it. The problem? If the market changes or testing reveals a fatal flaw at month six, we have to start all over. It's rigid and high-risk.</a:t>
            </a:r>
          </a:p>
        </p:txBody>
      </p:sp>
      <p:sp>
        <p:nvSpPr>
          <p:cNvPr id="4" name="Slide Number Placeholder 3"/>
          <p:cNvSpPr>
            <a:spLocks noGrp="1"/>
          </p:cNvSpPr>
          <p:nvPr>
            <p:ph type="sldNum" sz="quarter" idx="5"/>
          </p:nvPr>
        </p:nvSpPr>
        <p:spPr/>
        <p:txBody>
          <a:bodyPr/>
          <a:lstStyle/>
          <a:p>
            <a:fld id="{6FA0A505-D9D9-48CA-AD17-DCF76B718F88}" type="slidenum">
              <a:rPr lang="en-US" smtClean="0"/>
              <a:t>3</a:t>
            </a:fld>
            <a:endParaRPr lang="en-US"/>
          </a:p>
        </p:txBody>
      </p:sp>
    </p:spTree>
    <p:extLst>
      <p:ext uri="{BB962C8B-B14F-4D97-AF65-F5344CB8AC3E}">
        <p14:creationId xmlns:p14="http://schemas.microsoft.com/office/powerpoint/2010/main" val="3470137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condenses the SDLC phases into short, repeating cycles called Sprints. Instead of building the whole application at once, we plan, design, develop, test, and deploy a single feature, like a login screen, all in </a:t>
            </a:r>
            <a:r>
              <a:rPr lang="en-US" dirty="0" err="1"/>
              <a:t>jnust</a:t>
            </a:r>
            <a:r>
              <a:rPr lang="en-US" dirty="0"/>
              <a:t> two weeks. This means we are constantly delivering working software and integrating feedback immediately.</a:t>
            </a:r>
          </a:p>
        </p:txBody>
      </p:sp>
      <p:sp>
        <p:nvSpPr>
          <p:cNvPr id="4" name="Slide Number Placeholder 3"/>
          <p:cNvSpPr>
            <a:spLocks noGrp="1"/>
          </p:cNvSpPr>
          <p:nvPr>
            <p:ph type="sldNum" sz="quarter" idx="5"/>
          </p:nvPr>
        </p:nvSpPr>
        <p:spPr/>
        <p:txBody>
          <a:bodyPr/>
          <a:lstStyle/>
          <a:p>
            <a:fld id="{6FA0A505-D9D9-48CA-AD17-DCF76B718F88}" type="slidenum">
              <a:rPr lang="en-US" smtClean="0"/>
              <a:t>4</a:t>
            </a:fld>
            <a:endParaRPr lang="en-US"/>
          </a:p>
        </p:txBody>
      </p:sp>
    </p:spTree>
    <p:extLst>
      <p:ext uri="{BB962C8B-B14F-4D97-AF65-F5344CB8AC3E}">
        <p14:creationId xmlns:p14="http://schemas.microsoft.com/office/powerpoint/2010/main" val="1615925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Agile replaces top-down management with three collaborative roles. The Product Owner ensures we are building the right thing for the business. The Scrum Master clears obstacles. The Development Team, which includes coders and testers, executes the work. During the SNHU project, experiencing these roles firsthand proved how this structure creates immense accountability.</a:t>
            </a:r>
          </a:p>
          <a:p>
            <a:endParaRPr lang="en-US" dirty="0"/>
          </a:p>
        </p:txBody>
      </p:sp>
      <p:sp>
        <p:nvSpPr>
          <p:cNvPr id="4" name="Slide Number Placeholder 3"/>
          <p:cNvSpPr>
            <a:spLocks noGrp="1"/>
          </p:cNvSpPr>
          <p:nvPr>
            <p:ph type="sldNum" sz="quarter" idx="5"/>
          </p:nvPr>
        </p:nvSpPr>
        <p:spPr/>
        <p:txBody>
          <a:bodyPr/>
          <a:lstStyle/>
          <a:p>
            <a:fld id="{6FA0A505-D9D9-48CA-AD17-DCF76B718F88}" type="slidenum">
              <a:rPr lang="en-US" smtClean="0"/>
              <a:t>5</a:t>
            </a:fld>
            <a:endParaRPr lang="en-US"/>
          </a:p>
        </p:txBody>
      </p:sp>
    </p:spTree>
    <p:extLst>
      <p:ext uri="{BB962C8B-B14F-4D97-AF65-F5344CB8AC3E}">
        <p14:creationId xmlns:p14="http://schemas.microsoft.com/office/powerpoint/2010/main" val="1680944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proof of concept. Mid-project, SNHU Travel requested a massive pivot to 'Wellness' travel. In our traditional Waterfall model, this interruption would have halted production and required a complete rewrite of our requirements documentation. Using Agile, we simply updated our User Stories. The developer refactored the code in the very next sprint, saving weeks of wasted effort and budget.</a:t>
            </a:r>
          </a:p>
        </p:txBody>
      </p:sp>
      <p:sp>
        <p:nvSpPr>
          <p:cNvPr id="4" name="Slide Number Placeholder 3"/>
          <p:cNvSpPr>
            <a:spLocks noGrp="1"/>
          </p:cNvSpPr>
          <p:nvPr>
            <p:ph type="sldNum" sz="quarter" idx="5"/>
          </p:nvPr>
        </p:nvSpPr>
        <p:spPr/>
        <p:txBody>
          <a:bodyPr/>
          <a:lstStyle/>
          <a:p>
            <a:fld id="{6FA0A505-D9D9-48CA-AD17-DCF76B718F88}" type="slidenum">
              <a:rPr lang="en-US" smtClean="0"/>
              <a:t>6</a:t>
            </a:fld>
            <a:endParaRPr lang="en-US"/>
          </a:p>
        </p:txBody>
      </p:sp>
    </p:spTree>
    <p:extLst>
      <p:ext uri="{BB962C8B-B14F-4D97-AF65-F5344CB8AC3E}">
        <p14:creationId xmlns:p14="http://schemas.microsoft.com/office/powerpoint/2010/main" val="4049313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I advocate for Agile, it is a strategic choice. Waterfall remains useful for projects with strict government regulations or fixed physical hardware. However, for dynamic custom software where client needs evolve rapidly Agile is definitively the superior framework.</a:t>
            </a:r>
          </a:p>
        </p:txBody>
      </p:sp>
      <p:sp>
        <p:nvSpPr>
          <p:cNvPr id="4" name="Slide Number Placeholder 3"/>
          <p:cNvSpPr>
            <a:spLocks noGrp="1"/>
          </p:cNvSpPr>
          <p:nvPr>
            <p:ph type="sldNum" sz="quarter" idx="5"/>
          </p:nvPr>
        </p:nvSpPr>
        <p:spPr/>
        <p:txBody>
          <a:bodyPr/>
          <a:lstStyle/>
          <a:p>
            <a:fld id="{6FA0A505-D9D9-48CA-AD17-DCF76B718F88}" type="slidenum">
              <a:rPr lang="en-US" smtClean="0"/>
              <a:t>7</a:t>
            </a:fld>
            <a:endParaRPr lang="en-US"/>
          </a:p>
        </p:txBody>
      </p:sp>
    </p:spTree>
    <p:extLst>
      <p:ext uri="{BB962C8B-B14F-4D97-AF65-F5344CB8AC3E}">
        <p14:creationId xmlns:p14="http://schemas.microsoft.com/office/powerpoint/2010/main" val="1638263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SNHU Travel pilot, my recommendation is that Chada Tech fully transitions to a Scrum-Agile approach. Utilizing built-in communication events like the Daily Scrum will allow us to respond to market shifts instantly and foster a collaborative environment. This is how we build a more cohesive culture and better products.</a:t>
            </a:r>
          </a:p>
        </p:txBody>
      </p:sp>
      <p:sp>
        <p:nvSpPr>
          <p:cNvPr id="4" name="Slide Number Placeholder 3"/>
          <p:cNvSpPr>
            <a:spLocks noGrp="1"/>
          </p:cNvSpPr>
          <p:nvPr>
            <p:ph type="sldNum" sz="quarter" idx="5"/>
          </p:nvPr>
        </p:nvSpPr>
        <p:spPr/>
        <p:txBody>
          <a:bodyPr/>
          <a:lstStyle/>
          <a:p>
            <a:fld id="{6FA0A505-D9D9-48CA-AD17-DCF76B718F88}" type="slidenum">
              <a:rPr lang="en-US" smtClean="0"/>
              <a:t>8</a:t>
            </a:fld>
            <a:endParaRPr lang="en-US"/>
          </a:p>
        </p:txBody>
      </p:sp>
    </p:spTree>
    <p:extLst>
      <p:ext uri="{BB962C8B-B14F-4D97-AF65-F5344CB8AC3E}">
        <p14:creationId xmlns:p14="http://schemas.microsoft.com/office/powerpoint/2010/main" val="1388059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41059-9C46-C2A9-A70B-DDC79E47B2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C095F8-E2F0-FACF-EBBD-49A0B91801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C12C17-B39B-3C38-00F6-593C41B04946}"/>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5" name="Footer Placeholder 4">
            <a:extLst>
              <a:ext uri="{FF2B5EF4-FFF2-40B4-BE49-F238E27FC236}">
                <a16:creationId xmlns:a16="http://schemas.microsoft.com/office/drawing/2014/main" id="{4ADFCF84-CDD3-8CDB-47A5-AA517BABF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CABE2D-D1D8-AA4E-902A-B9E896EBF143}"/>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1392057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BEBC1-236D-BED5-4E83-50AAA02D4F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B83416-9A68-D144-60E5-761C115920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7E5F80-A2C3-36A2-20BE-07DED6AEF3CC}"/>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5" name="Footer Placeholder 4">
            <a:extLst>
              <a:ext uri="{FF2B5EF4-FFF2-40B4-BE49-F238E27FC236}">
                <a16:creationId xmlns:a16="http://schemas.microsoft.com/office/drawing/2014/main" id="{7EBCE941-2918-9740-FD9D-3B3618ABB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C4380C-75AF-F3BF-3E35-B1EB74F05148}"/>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3619126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43C31-FD68-B23B-D975-5079635E22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B3CCFF-B00E-24CE-FD9D-A9E1D4BAB7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311E56-A3A3-5390-D16A-19BD806F458B}"/>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5" name="Footer Placeholder 4">
            <a:extLst>
              <a:ext uri="{FF2B5EF4-FFF2-40B4-BE49-F238E27FC236}">
                <a16:creationId xmlns:a16="http://schemas.microsoft.com/office/drawing/2014/main" id="{480FE59B-4A13-04E1-E984-F6CB83759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38A-A50B-D5BC-711A-612448A847F6}"/>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28983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779DD-AFAE-BBA8-5732-465F8ADD79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7BF8BB-A24C-8180-A4AE-C463FF7B1C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F729F9-ED33-9855-2477-231C17EDC9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DD9436-386A-E479-CA5B-4018CDA877F2}"/>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6" name="Footer Placeholder 5">
            <a:extLst>
              <a:ext uri="{FF2B5EF4-FFF2-40B4-BE49-F238E27FC236}">
                <a16:creationId xmlns:a16="http://schemas.microsoft.com/office/drawing/2014/main" id="{D02A934C-E993-D80B-3DF8-BD5A30BC92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6157F7-94D8-E9D9-74E7-FA3D90E9F44C}"/>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668577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DE9AE-2BC8-1EBC-E60E-176C739876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39FC19-BE54-A9C1-3783-8E5F8F39AF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C347EA-EA31-160B-DDFF-C1A5A0781E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58CDEC-8D0F-83A2-3AF3-FFB0CBE6E7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9969B1-6D3B-183F-01C6-F6B706588F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67E0FE-02FB-D48E-B774-A52A2D313726}"/>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8" name="Footer Placeholder 7">
            <a:extLst>
              <a:ext uri="{FF2B5EF4-FFF2-40B4-BE49-F238E27FC236}">
                <a16:creationId xmlns:a16="http://schemas.microsoft.com/office/drawing/2014/main" id="{C5C0E25F-65E3-5523-B095-11F6BD434C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679F04-7645-1384-0F77-C16266E07A5D}"/>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2815701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F6917-60E0-87FD-89B4-72F914E0A4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2E1C1B-87C3-E3A6-5FD1-415960AC0F2B}"/>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4" name="Footer Placeholder 3">
            <a:extLst>
              <a:ext uri="{FF2B5EF4-FFF2-40B4-BE49-F238E27FC236}">
                <a16:creationId xmlns:a16="http://schemas.microsoft.com/office/drawing/2014/main" id="{A10DBDBA-2624-5545-E0A0-F4DA188108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4D5005-490E-C4A4-4F2E-C3C928D8DF02}"/>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946961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604CE6-25BE-A82C-79D4-88D7162EC13A}"/>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3" name="Footer Placeholder 2">
            <a:extLst>
              <a:ext uri="{FF2B5EF4-FFF2-40B4-BE49-F238E27FC236}">
                <a16:creationId xmlns:a16="http://schemas.microsoft.com/office/drawing/2014/main" id="{94CC8BCB-6839-6372-CBFE-44DC0AF653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54C210-9E7D-23B7-BDD1-237B7A5193C9}"/>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3818607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FABC6-1564-0EF5-B6DB-F20A3FF252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A60EE6-796D-00B1-58E4-8E3EF4AC33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0C323E-115E-FF14-C999-F15B8C4AE9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FD9216-766D-3E26-85D9-B1DF5AE29823}"/>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6" name="Footer Placeholder 5">
            <a:extLst>
              <a:ext uri="{FF2B5EF4-FFF2-40B4-BE49-F238E27FC236}">
                <a16:creationId xmlns:a16="http://schemas.microsoft.com/office/drawing/2014/main" id="{028E56EA-4322-5AD4-B0FA-0241C9FBD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B1A28B-9BEB-D7B2-12CD-600740C71D89}"/>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1121214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2E9F7-3248-DC2C-9589-9DF2E6E7DE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A4F2AB-B495-239F-1F55-228B1E547F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E6660A-5C46-6C4F-F587-6E4053E51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8BAB5-3B6A-4F7C-CA17-ABB8EFE41CDA}"/>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6" name="Footer Placeholder 5">
            <a:extLst>
              <a:ext uri="{FF2B5EF4-FFF2-40B4-BE49-F238E27FC236}">
                <a16:creationId xmlns:a16="http://schemas.microsoft.com/office/drawing/2014/main" id="{2A56D219-98A6-EFD3-64B2-B809BDAE5E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689FF2-3039-7BEB-D1CD-5AF9F3FEF3E7}"/>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1776149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405D7-B0CA-B082-E667-EFF468A238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5C88EC-A6E7-E60C-D684-5C3AE2202D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B33F40-490E-2B67-BF56-708A51BEFFBC}"/>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5" name="Footer Placeholder 4">
            <a:extLst>
              <a:ext uri="{FF2B5EF4-FFF2-40B4-BE49-F238E27FC236}">
                <a16:creationId xmlns:a16="http://schemas.microsoft.com/office/drawing/2014/main" id="{BF96A9EE-865D-A994-FB89-D0F3D7CC84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E3A618-CEF9-5A94-29A8-1633E89F08CF}"/>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1062860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9634A5-5185-78E1-90FF-C1CD4F3437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BE0023-B076-0C73-8F46-B4852FBB61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42522-40B0-745D-200C-B262AAF41EBB}"/>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5" name="Footer Placeholder 4">
            <a:extLst>
              <a:ext uri="{FF2B5EF4-FFF2-40B4-BE49-F238E27FC236}">
                <a16:creationId xmlns:a16="http://schemas.microsoft.com/office/drawing/2014/main" id="{AD6ED94D-551A-634E-8E4D-14F439AF15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9DE404-E21E-285E-20DA-38D75F8793E0}"/>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40469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49D1D-62FE-BACE-6AF9-06CC4623EAEE}"/>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B18ACDED-F9A5-EB03-73DD-50601AB403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55591-133D-CFA8-8A5B-1C9A00ADC6F3}"/>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5" name="Footer Placeholder 4">
            <a:extLst>
              <a:ext uri="{FF2B5EF4-FFF2-40B4-BE49-F238E27FC236}">
                <a16:creationId xmlns:a16="http://schemas.microsoft.com/office/drawing/2014/main" id="{34D67FE3-F389-E2D2-53D0-33A157743D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95072A-2E4A-B0B7-F56F-8EFB6EBF2241}"/>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26028285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ColTx" preserve="1">
  <p:cSld name="Title and 2-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0966A-829F-466B-B767-4457990C681F}"/>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3BDF9E7D-F10F-7DE1-E952-96A02E3A1C9B}"/>
              </a:ext>
            </a:extLst>
          </p:cNvPr>
          <p:cNvSpPr>
            <a:spLocks noGrp="1"/>
          </p:cNvSpPr>
          <p:nvPr>
            <p:ph type="body"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0FA4BE-366F-2732-AEB2-7727D539BBCC}"/>
              </a:ext>
            </a:extLst>
          </p:cNvPr>
          <p:cNvSpPr>
            <a:spLocks noGrp="1"/>
          </p:cNvSpPr>
          <p:nvPr>
            <p:ph type="body"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E17800-3F63-E33A-EEBD-BB23E63792F1}"/>
              </a:ext>
            </a:extLst>
          </p:cNvPr>
          <p:cNvSpPr>
            <a:spLocks noGrp="1"/>
          </p:cNvSpPr>
          <p:nvPr>
            <p:ph type="dt" sz="half" idx="10"/>
          </p:nvPr>
        </p:nvSpPr>
        <p:spPr/>
        <p:txBody>
          <a:bodyPr/>
          <a:lstStyle/>
          <a:p>
            <a:fld id="{234F6158-C28D-4FC8-BC3B-3E9B49BE7EC2}" type="datetimeFigureOut">
              <a:rPr lang="en-US" smtClean="0"/>
              <a:t>2/21/2026</a:t>
            </a:fld>
            <a:endParaRPr lang="en-US"/>
          </a:p>
        </p:txBody>
      </p:sp>
      <p:sp>
        <p:nvSpPr>
          <p:cNvPr id="6" name="Footer Placeholder 5">
            <a:extLst>
              <a:ext uri="{FF2B5EF4-FFF2-40B4-BE49-F238E27FC236}">
                <a16:creationId xmlns:a16="http://schemas.microsoft.com/office/drawing/2014/main" id="{8423E65E-C7EE-978A-6A9F-34AEEB27BF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C6DB71-A81E-D281-A9FC-E7B0B42DE74D}"/>
              </a:ext>
            </a:extLst>
          </p:cNvPr>
          <p:cNvSpPr>
            <a:spLocks noGrp="1"/>
          </p:cNvSpPr>
          <p:nvPr>
            <p:ph type="sldNum" sz="quarter" idx="12"/>
          </p:nvPr>
        </p:nvSpPr>
        <p:spPr/>
        <p:txBody>
          <a:bodyPr/>
          <a:lstStyle/>
          <a:p>
            <a:fld id="{076C24F4-8D70-4948-91D6-1732BCCBFA70}" type="slidenum">
              <a:rPr lang="en-US" smtClean="0"/>
              <a:t>‹#›</a:t>
            </a:fld>
            <a:endParaRPr lang="en-US"/>
          </a:p>
        </p:txBody>
      </p:sp>
    </p:spTree>
    <p:extLst>
      <p:ext uri="{BB962C8B-B14F-4D97-AF65-F5344CB8AC3E}">
        <p14:creationId xmlns:p14="http://schemas.microsoft.com/office/powerpoint/2010/main" val="1321814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2F0A95-0AF0-A7CE-71A6-E36F8D275D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8DB00F-2D78-908E-5E3A-EB661518DB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9901B4-44DE-40B4-DBFF-278310803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4F6158-C28D-4FC8-BC3B-3E9B49BE7EC2}" type="datetimeFigureOut">
              <a:rPr lang="en-US" smtClean="0"/>
              <a:t>2/21/2026</a:t>
            </a:fld>
            <a:endParaRPr lang="en-US"/>
          </a:p>
        </p:txBody>
      </p:sp>
      <p:sp>
        <p:nvSpPr>
          <p:cNvPr id="5" name="Footer Placeholder 4">
            <a:extLst>
              <a:ext uri="{FF2B5EF4-FFF2-40B4-BE49-F238E27FC236}">
                <a16:creationId xmlns:a16="http://schemas.microsoft.com/office/drawing/2014/main" id="{581DD36E-9FB0-D45C-5E9D-63AE376D63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B2FC66-8DF5-0268-35CC-79D96E2197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6C24F4-8D70-4948-91D6-1732BCCBFA70}" type="slidenum">
              <a:rPr lang="en-US" smtClean="0"/>
              <a:t>‹#›</a:t>
            </a:fld>
            <a:endParaRPr lang="en-US"/>
          </a:p>
        </p:txBody>
      </p:sp>
    </p:spTree>
    <p:extLst>
      <p:ext uri="{BB962C8B-B14F-4D97-AF65-F5344CB8AC3E}">
        <p14:creationId xmlns:p14="http://schemas.microsoft.com/office/powerpoint/2010/main" val="4238361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jpeg"/><Relationship Id="rId7" Type="http://schemas.openxmlformats.org/officeDocument/2006/relationships/diagramColors" Target="../diagrams/colors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3.jpeg"/><Relationship Id="rId7" Type="http://schemas.openxmlformats.org/officeDocument/2006/relationships/diagramColors" Target="../diagrams/colors3.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Head with Gears">
            <a:extLst>
              <a:ext uri="{FF2B5EF4-FFF2-40B4-BE49-F238E27FC236}">
                <a16:creationId xmlns:a16="http://schemas.microsoft.com/office/drawing/2014/main" id="{B9AC50FB-E4BB-CFC6-5AFB-B830A5B3CD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4988" y="1744515"/>
            <a:ext cx="3368969" cy="3368969"/>
          </a:xfrm>
          <a:prstGeom prst="rect">
            <a:avLst/>
          </a:prstGeom>
        </p:spPr>
      </p:pic>
      <p:sp>
        <p:nvSpPr>
          <p:cNvPr id="59" name="Freeform: Shape 58">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580EC24-CC17-17E1-A851-79E1FF72253E}"/>
              </a:ext>
            </a:extLst>
          </p:cNvPr>
          <p:cNvSpPr>
            <a:spLocks noGrp="1"/>
          </p:cNvSpPr>
          <p:nvPr>
            <p:ph type="ctrTitle"/>
          </p:nvPr>
        </p:nvSpPr>
        <p:spPr>
          <a:xfrm>
            <a:off x="5622061" y="762538"/>
            <a:ext cx="5649349" cy="3199862"/>
          </a:xfrm>
        </p:spPr>
        <p:txBody>
          <a:bodyPr anchor="b">
            <a:normAutofit/>
          </a:bodyPr>
          <a:lstStyle/>
          <a:p>
            <a:pPr algn="l"/>
            <a:r>
              <a:rPr lang="en-US" sz="6600" b="1">
                <a:solidFill>
                  <a:srgbClr val="FFFFFF"/>
                </a:solidFill>
                <a:latin typeface="Arial" panose="020B0604020202020204" pitchFamily="34" charset="0"/>
                <a:cs typeface="Arial" panose="020B0604020202020204" pitchFamily="34" charset="0"/>
              </a:rPr>
              <a:t>Transitioning Chada Tech to Agile</a:t>
            </a:r>
          </a:p>
        </p:txBody>
      </p:sp>
      <p:sp>
        <p:nvSpPr>
          <p:cNvPr id="3" name="Subtitle 2">
            <a:extLst>
              <a:ext uri="{FF2B5EF4-FFF2-40B4-BE49-F238E27FC236}">
                <a16:creationId xmlns:a16="http://schemas.microsoft.com/office/drawing/2014/main" id="{112FB800-485E-3F03-7695-0C6BDA6AE990}"/>
              </a:ext>
            </a:extLst>
          </p:cNvPr>
          <p:cNvSpPr>
            <a:spLocks noGrp="1"/>
          </p:cNvSpPr>
          <p:nvPr>
            <p:ph type="subTitle" idx="1"/>
          </p:nvPr>
        </p:nvSpPr>
        <p:spPr>
          <a:xfrm>
            <a:off x="5622061" y="4312561"/>
            <a:ext cx="5649349" cy="1687815"/>
          </a:xfrm>
        </p:spPr>
        <p:txBody>
          <a:bodyPr anchor="t">
            <a:normAutofit/>
          </a:bodyPr>
          <a:lstStyle/>
          <a:p>
            <a:pPr algn="l"/>
            <a:r>
              <a:rPr lang="en-US">
                <a:solidFill>
                  <a:srgbClr val="FFFFFF"/>
                </a:solidFill>
                <a:latin typeface="Arial" panose="020B0604020202020204" pitchFamily="34" charset="0"/>
                <a:cs typeface="Arial" panose="020B0604020202020204" pitchFamily="34" charset="0"/>
              </a:rPr>
              <a:t>Strategic Recommendations from the SNHU Travel Pilot</a:t>
            </a:r>
          </a:p>
          <a:p>
            <a:pPr algn="l"/>
            <a:r>
              <a:rPr lang="en-US">
                <a:solidFill>
                  <a:srgbClr val="FFFFFF"/>
                </a:solidFill>
                <a:latin typeface="Arial" panose="020B0604020202020204" pitchFamily="34" charset="0"/>
                <a:cs typeface="Arial" panose="020B0604020202020204" pitchFamily="34" charset="0"/>
              </a:rPr>
              <a:t>Presented by: Athena Trunkhill</a:t>
            </a:r>
          </a:p>
        </p:txBody>
      </p:sp>
      <p:sp>
        <p:nvSpPr>
          <p:cNvPr id="61"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sX0" fmla="*/ 0 w 5303520"/>
              <a:gd name="csY0" fmla="*/ 0 h 18288"/>
              <a:gd name="csX1" fmla="*/ 556870 w 5303520"/>
              <a:gd name="csY1" fmla="*/ 0 h 18288"/>
              <a:gd name="csX2" fmla="*/ 1272845 w 5303520"/>
              <a:gd name="csY2" fmla="*/ 0 h 18288"/>
              <a:gd name="csX3" fmla="*/ 1882750 w 5303520"/>
              <a:gd name="csY3" fmla="*/ 0 h 18288"/>
              <a:gd name="csX4" fmla="*/ 2439619 w 5303520"/>
              <a:gd name="csY4" fmla="*/ 0 h 18288"/>
              <a:gd name="csX5" fmla="*/ 3155594 w 5303520"/>
              <a:gd name="csY5" fmla="*/ 0 h 18288"/>
              <a:gd name="csX6" fmla="*/ 3818534 w 5303520"/>
              <a:gd name="csY6" fmla="*/ 0 h 18288"/>
              <a:gd name="csX7" fmla="*/ 4481474 w 5303520"/>
              <a:gd name="csY7" fmla="*/ 0 h 18288"/>
              <a:gd name="csX8" fmla="*/ 5303520 w 5303520"/>
              <a:gd name="csY8" fmla="*/ 0 h 18288"/>
              <a:gd name="csX9" fmla="*/ 5303520 w 5303520"/>
              <a:gd name="csY9" fmla="*/ 18288 h 18288"/>
              <a:gd name="csX10" fmla="*/ 4746650 w 5303520"/>
              <a:gd name="csY10" fmla="*/ 18288 h 18288"/>
              <a:gd name="csX11" fmla="*/ 4242816 w 5303520"/>
              <a:gd name="csY11" fmla="*/ 18288 h 18288"/>
              <a:gd name="csX12" fmla="*/ 3526841 w 5303520"/>
              <a:gd name="csY12" fmla="*/ 18288 h 18288"/>
              <a:gd name="csX13" fmla="*/ 2969971 w 5303520"/>
              <a:gd name="csY13" fmla="*/ 18288 h 18288"/>
              <a:gd name="csX14" fmla="*/ 2253996 w 5303520"/>
              <a:gd name="csY14" fmla="*/ 18288 h 18288"/>
              <a:gd name="csX15" fmla="*/ 1484986 w 5303520"/>
              <a:gd name="csY15" fmla="*/ 18288 h 18288"/>
              <a:gd name="csX16" fmla="*/ 875081 w 5303520"/>
              <a:gd name="csY16" fmla="*/ 18288 h 18288"/>
              <a:gd name="csX17" fmla="*/ 0 w 5303520"/>
              <a:gd name="csY17" fmla="*/ 18288 h 18288"/>
              <a:gd name="csX18" fmla="*/ 0 w 530352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1255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45594A-B5E9-FDE0-CDD0-434EB0AE4D22}"/>
              </a:ext>
            </a:extLst>
          </p:cNvPr>
          <p:cNvSpPr>
            <a:spLocks noGrp="1"/>
          </p:cNvSpPr>
          <p:nvPr>
            <p:ph type="title"/>
          </p:nvPr>
        </p:nvSpPr>
        <p:spPr>
          <a:xfrm>
            <a:off x="6657715" y="467271"/>
            <a:ext cx="4195674" cy="2052522"/>
          </a:xfrm>
        </p:spPr>
        <p:txBody>
          <a:bodyPr vert="horz" lIns="91440" tIns="45720" rIns="91440" bIns="45720" rtlCol="0" anchor="b">
            <a:normAutofit/>
          </a:bodyPr>
          <a:lstStyle/>
          <a:p>
            <a:r>
              <a:rPr lang="en-US" sz="5600" kern="1200">
                <a:solidFill>
                  <a:schemeClr val="tx1"/>
                </a:solidFill>
                <a:latin typeface="+mj-lt"/>
                <a:ea typeface="+mj-ea"/>
                <a:cs typeface="+mj-cs"/>
              </a:rPr>
              <a:t>Executive Summary</a:t>
            </a:r>
          </a:p>
        </p:txBody>
      </p:sp>
      <p:sp>
        <p:nvSpPr>
          <p:cNvPr id="34" name="Oval 33">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5614C7C0-FA1D-4105-8345-1DF76F9870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2753" y="703679"/>
            <a:ext cx="753718" cy="1016562"/>
            <a:chOff x="422753" y="703679"/>
            <a:chExt cx="753718" cy="1016562"/>
          </a:xfrm>
        </p:grpSpPr>
        <p:sp>
          <p:nvSpPr>
            <p:cNvPr id="3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38"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grpSp>
      <p:pic>
        <p:nvPicPr>
          <p:cNvPr id="7" name="Graphic 6" descr="Atom">
            <a:extLst>
              <a:ext uri="{FF2B5EF4-FFF2-40B4-BE49-F238E27FC236}">
                <a16:creationId xmlns:a16="http://schemas.microsoft.com/office/drawing/2014/main" id="{B5FDC17A-1EC5-CE69-DAE7-7DB1D85B8F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17770" y="1448957"/>
            <a:ext cx="3952579" cy="3952579"/>
          </a:xfrm>
          <a:prstGeom prst="rect">
            <a:avLst/>
          </a:prstGeom>
        </p:spPr>
      </p:pic>
      <p:sp>
        <p:nvSpPr>
          <p:cNvPr id="3" name="Text Placeholder 2">
            <a:extLst>
              <a:ext uri="{FF2B5EF4-FFF2-40B4-BE49-F238E27FC236}">
                <a16:creationId xmlns:a16="http://schemas.microsoft.com/office/drawing/2014/main" id="{7671B6F0-717E-C324-A8AE-E9C8AFDEBDD9}"/>
              </a:ext>
            </a:extLst>
          </p:cNvPr>
          <p:cNvSpPr>
            <a:spLocks noGrp="1"/>
          </p:cNvSpPr>
          <p:nvPr>
            <p:ph type="body" idx="1"/>
          </p:nvPr>
        </p:nvSpPr>
        <p:spPr>
          <a:xfrm>
            <a:off x="6695359" y="2990818"/>
            <a:ext cx="4158031" cy="2913872"/>
          </a:xfrm>
        </p:spPr>
        <p:txBody>
          <a:bodyPr vert="horz" lIns="91440" tIns="45720" rIns="91440" bIns="45720" rtlCol="0" anchor="t">
            <a:normAutofit/>
          </a:bodyPr>
          <a:lstStyle/>
          <a:p>
            <a:r>
              <a:rPr lang="en-US" sz="2000">
                <a:solidFill>
                  <a:schemeClr val="tx1">
                    <a:alpha val="80000"/>
                  </a:schemeClr>
                </a:solidFill>
              </a:rPr>
              <a:t>Accelerated Delivery: Faster speed-to-market.</a:t>
            </a:r>
          </a:p>
          <a:p>
            <a:r>
              <a:rPr lang="en-US" sz="2000">
                <a:solidFill>
                  <a:schemeClr val="tx1">
                    <a:alpha val="80000"/>
                  </a:schemeClr>
                </a:solidFill>
              </a:rPr>
              <a:t>Risk Mitigation: Continuous testing prevents end-stage failures.</a:t>
            </a:r>
          </a:p>
          <a:p>
            <a:r>
              <a:rPr lang="en-US" sz="2000">
                <a:solidFill>
                  <a:schemeClr val="tx1">
                    <a:alpha val="80000"/>
                  </a:schemeClr>
                </a:solidFill>
              </a:rPr>
              <a:t>Client Alignment: Adapts to changing market demands instantly.</a:t>
            </a:r>
          </a:p>
        </p:txBody>
      </p:sp>
      <p:sp>
        <p:nvSpPr>
          <p:cNvPr id="40"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42" name="Straight Connector 41">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634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0AE7F7C-DD7F-DB6D-EFC9-7955E3013228}"/>
              </a:ext>
            </a:extLst>
          </p:cNvPr>
          <p:cNvSpPr>
            <a:spLocks noGrp="1"/>
          </p:cNvSpPr>
          <p:nvPr>
            <p:ph type="title"/>
          </p:nvPr>
        </p:nvSpPr>
        <p:spPr>
          <a:xfrm>
            <a:off x="5759354" y="457201"/>
            <a:ext cx="5337270" cy="1835911"/>
          </a:xfrm>
        </p:spPr>
        <p:txBody>
          <a:bodyPr vert="horz" lIns="91440" tIns="45720" rIns="91440" bIns="45720" rtlCol="0" anchor="b">
            <a:normAutofit/>
          </a:bodyPr>
          <a:lstStyle/>
          <a:p>
            <a:r>
              <a:rPr lang="en-US" sz="4200" b="1" kern="1200">
                <a:solidFill>
                  <a:srgbClr val="FFFFFF"/>
                </a:solidFill>
                <a:latin typeface="+mj-lt"/>
                <a:ea typeface="+mj-ea"/>
                <a:cs typeface="+mj-cs"/>
              </a:rPr>
              <a:t>The Traditional SDLC: </a:t>
            </a:r>
            <a:br>
              <a:rPr lang="en-US" sz="4200" b="1" kern="1200">
                <a:solidFill>
                  <a:srgbClr val="FFFFFF"/>
                </a:solidFill>
                <a:latin typeface="+mj-lt"/>
                <a:ea typeface="+mj-ea"/>
                <a:cs typeface="+mj-cs"/>
              </a:rPr>
            </a:br>
            <a:r>
              <a:rPr lang="en-US" sz="4200" kern="1200">
                <a:solidFill>
                  <a:srgbClr val="FFFFFF"/>
                </a:solidFill>
                <a:latin typeface="+mj-lt"/>
                <a:ea typeface="+mj-ea"/>
                <a:cs typeface="+mj-cs"/>
              </a:rPr>
              <a:t>The Waterfall Model</a:t>
            </a:r>
          </a:p>
        </p:txBody>
      </p:sp>
      <p:sp>
        <p:nvSpPr>
          <p:cNvPr id="27" name="sketch line">
            <a:extLst>
              <a:ext uri="{FF2B5EF4-FFF2-40B4-BE49-F238E27FC236}">
                <a16:creationId xmlns:a16="http://schemas.microsoft.com/office/drawing/2014/main" id="{49B530FE-A87D-41A0-A920-ADC6539EA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9353" y="2560829"/>
            <a:ext cx="5029200" cy="18288"/>
          </a:xfrm>
          <a:custGeom>
            <a:avLst/>
            <a:gdLst>
              <a:gd name="csX0" fmla="*/ 0 w 5029200"/>
              <a:gd name="csY0" fmla="*/ 0 h 18288"/>
              <a:gd name="csX1" fmla="*/ 528066 w 5029200"/>
              <a:gd name="csY1" fmla="*/ 0 h 18288"/>
              <a:gd name="csX2" fmla="*/ 1207008 w 5029200"/>
              <a:gd name="csY2" fmla="*/ 0 h 18288"/>
              <a:gd name="csX3" fmla="*/ 1785366 w 5029200"/>
              <a:gd name="csY3" fmla="*/ 0 h 18288"/>
              <a:gd name="csX4" fmla="*/ 2313432 w 5029200"/>
              <a:gd name="csY4" fmla="*/ 0 h 18288"/>
              <a:gd name="csX5" fmla="*/ 2992374 w 5029200"/>
              <a:gd name="csY5" fmla="*/ 0 h 18288"/>
              <a:gd name="csX6" fmla="*/ 3621024 w 5029200"/>
              <a:gd name="csY6" fmla="*/ 0 h 18288"/>
              <a:gd name="csX7" fmla="*/ 4249674 w 5029200"/>
              <a:gd name="csY7" fmla="*/ 0 h 18288"/>
              <a:gd name="csX8" fmla="*/ 5029200 w 5029200"/>
              <a:gd name="csY8" fmla="*/ 0 h 18288"/>
              <a:gd name="csX9" fmla="*/ 5029200 w 5029200"/>
              <a:gd name="csY9" fmla="*/ 18288 h 18288"/>
              <a:gd name="csX10" fmla="*/ 4501134 w 5029200"/>
              <a:gd name="csY10" fmla="*/ 18288 h 18288"/>
              <a:gd name="csX11" fmla="*/ 4023360 w 5029200"/>
              <a:gd name="csY11" fmla="*/ 18288 h 18288"/>
              <a:gd name="csX12" fmla="*/ 3344418 w 5029200"/>
              <a:gd name="csY12" fmla="*/ 18288 h 18288"/>
              <a:gd name="csX13" fmla="*/ 2816352 w 5029200"/>
              <a:gd name="csY13" fmla="*/ 18288 h 18288"/>
              <a:gd name="csX14" fmla="*/ 2137410 w 5029200"/>
              <a:gd name="csY14" fmla="*/ 18288 h 18288"/>
              <a:gd name="csX15" fmla="*/ 1408176 w 5029200"/>
              <a:gd name="csY15" fmla="*/ 18288 h 18288"/>
              <a:gd name="csX16" fmla="*/ 829818 w 5029200"/>
              <a:gd name="csY16" fmla="*/ 18288 h 18288"/>
              <a:gd name="csX17" fmla="*/ 0 w 5029200"/>
              <a:gd name="csY17" fmla="*/ 18288 h 18288"/>
              <a:gd name="csX18" fmla="*/ 0 w 5029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29200" h="18288" fill="none" extrusionOk="0">
                <a:moveTo>
                  <a:pt x="0" y="0"/>
                </a:moveTo>
                <a:cubicBezTo>
                  <a:pt x="142937" y="1696"/>
                  <a:pt x="371859" y="12840"/>
                  <a:pt x="528066" y="0"/>
                </a:cubicBezTo>
                <a:cubicBezTo>
                  <a:pt x="684273" y="-12840"/>
                  <a:pt x="928949" y="-5725"/>
                  <a:pt x="1207008" y="0"/>
                </a:cubicBezTo>
                <a:cubicBezTo>
                  <a:pt x="1485067" y="5725"/>
                  <a:pt x="1562886" y="-21331"/>
                  <a:pt x="1785366" y="0"/>
                </a:cubicBezTo>
                <a:cubicBezTo>
                  <a:pt x="2007846" y="21331"/>
                  <a:pt x="2056226" y="25221"/>
                  <a:pt x="2313432" y="0"/>
                </a:cubicBezTo>
                <a:cubicBezTo>
                  <a:pt x="2570638" y="-25221"/>
                  <a:pt x="2732455" y="16294"/>
                  <a:pt x="2992374" y="0"/>
                </a:cubicBezTo>
                <a:cubicBezTo>
                  <a:pt x="3252293" y="-16294"/>
                  <a:pt x="3319267" y="-29774"/>
                  <a:pt x="3621024" y="0"/>
                </a:cubicBezTo>
                <a:cubicBezTo>
                  <a:pt x="3922781" y="29774"/>
                  <a:pt x="3998107" y="-1004"/>
                  <a:pt x="4249674" y="0"/>
                </a:cubicBezTo>
                <a:cubicBezTo>
                  <a:pt x="4501241" y="1004"/>
                  <a:pt x="4792523" y="-4510"/>
                  <a:pt x="5029200" y="0"/>
                </a:cubicBezTo>
                <a:cubicBezTo>
                  <a:pt x="5029730" y="6954"/>
                  <a:pt x="5029934" y="12839"/>
                  <a:pt x="5029200" y="18288"/>
                </a:cubicBezTo>
                <a:cubicBezTo>
                  <a:pt x="4805432" y="23154"/>
                  <a:pt x="4715801" y="17034"/>
                  <a:pt x="4501134" y="18288"/>
                </a:cubicBezTo>
                <a:cubicBezTo>
                  <a:pt x="4286467" y="19542"/>
                  <a:pt x="4193719" y="41701"/>
                  <a:pt x="4023360" y="18288"/>
                </a:cubicBezTo>
                <a:cubicBezTo>
                  <a:pt x="3853001" y="-5125"/>
                  <a:pt x="3676466" y="16909"/>
                  <a:pt x="3344418" y="18288"/>
                </a:cubicBezTo>
                <a:cubicBezTo>
                  <a:pt x="3012370" y="19667"/>
                  <a:pt x="2945824" y="14410"/>
                  <a:pt x="2816352" y="18288"/>
                </a:cubicBezTo>
                <a:cubicBezTo>
                  <a:pt x="2686880" y="22166"/>
                  <a:pt x="2438351" y="13507"/>
                  <a:pt x="2137410" y="18288"/>
                </a:cubicBezTo>
                <a:cubicBezTo>
                  <a:pt x="1836469" y="23069"/>
                  <a:pt x="1581391" y="46111"/>
                  <a:pt x="1408176" y="18288"/>
                </a:cubicBezTo>
                <a:cubicBezTo>
                  <a:pt x="1234961" y="-9535"/>
                  <a:pt x="1040489" y="-7495"/>
                  <a:pt x="829818" y="18288"/>
                </a:cubicBezTo>
                <a:cubicBezTo>
                  <a:pt x="619147" y="44071"/>
                  <a:pt x="238626" y="37568"/>
                  <a:pt x="0" y="18288"/>
                </a:cubicBezTo>
                <a:cubicBezTo>
                  <a:pt x="-570" y="9279"/>
                  <a:pt x="132" y="5100"/>
                  <a:pt x="0" y="0"/>
                </a:cubicBezTo>
                <a:close/>
              </a:path>
              <a:path w="5029200" h="18288" stroke="0" extrusionOk="0">
                <a:moveTo>
                  <a:pt x="0" y="0"/>
                </a:moveTo>
                <a:cubicBezTo>
                  <a:pt x="165412" y="-21137"/>
                  <a:pt x="322344" y="-21985"/>
                  <a:pt x="578358" y="0"/>
                </a:cubicBezTo>
                <a:cubicBezTo>
                  <a:pt x="834372" y="21985"/>
                  <a:pt x="907099" y="-19195"/>
                  <a:pt x="1056132" y="0"/>
                </a:cubicBezTo>
                <a:cubicBezTo>
                  <a:pt x="1205165" y="19195"/>
                  <a:pt x="1612834" y="-24928"/>
                  <a:pt x="1785366" y="0"/>
                </a:cubicBezTo>
                <a:cubicBezTo>
                  <a:pt x="1957898" y="24928"/>
                  <a:pt x="2149044" y="19108"/>
                  <a:pt x="2363724" y="0"/>
                </a:cubicBezTo>
                <a:cubicBezTo>
                  <a:pt x="2578404" y="-19108"/>
                  <a:pt x="2759981" y="-21788"/>
                  <a:pt x="2942082" y="0"/>
                </a:cubicBezTo>
                <a:cubicBezTo>
                  <a:pt x="3124183" y="21788"/>
                  <a:pt x="3482217" y="8836"/>
                  <a:pt x="3671316" y="0"/>
                </a:cubicBezTo>
                <a:cubicBezTo>
                  <a:pt x="3860415" y="-8836"/>
                  <a:pt x="4058665" y="-25048"/>
                  <a:pt x="4199382" y="0"/>
                </a:cubicBezTo>
                <a:cubicBezTo>
                  <a:pt x="4340099" y="25048"/>
                  <a:pt x="4735096" y="-22088"/>
                  <a:pt x="5029200" y="0"/>
                </a:cubicBezTo>
                <a:cubicBezTo>
                  <a:pt x="5028517" y="5414"/>
                  <a:pt x="5028480" y="12510"/>
                  <a:pt x="5029200" y="18288"/>
                </a:cubicBezTo>
                <a:cubicBezTo>
                  <a:pt x="4891577" y="31493"/>
                  <a:pt x="4684146" y="-2509"/>
                  <a:pt x="4501134" y="18288"/>
                </a:cubicBezTo>
                <a:cubicBezTo>
                  <a:pt x="4318122" y="39085"/>
                  <a:pt x="4030703" y="3672"/>
                  <a:pt x="3872484" y="18288"/>
                </a:cubicBezTo>
                <a:cubicBezTo>
                  <a:pt x="3714265" y="32905"/>
                  <a:pt x="3546134" y="7501"/>
                  <a:pt x="3294126" y="18288"/>
                </a:cubicBezTo>
                <a:cubicBezTo>
                  <a:pt x="3042118" y="29075"/>
                  <a:pt x="2912116" y="11153"/>
                  <a:pt x="2564892" y="18288"/>
                </a:cubicBezTo>
                <a:cubicBezTo>
                  <a:pt x="2217668" y="25423"/>
                  <a:pt x="2095118" y="11659"/>
                  <a:pt x="1835658" y="18288"/>
                </a:cubicBezTo>
                <a:cubicBezTo>
                  <a:pt x="1576198" y="24917"/>
                  <a:pt x="1500897" y="19889"/>
                  <a:pt x="1307592" y="18288"/>
                </a:cubicBezTo>
                <a:cubicBezTo>
                  <a:pt x="1114287" y="16687"/>
                  <a:pt x="961527" y="47453"/>
                  <a:pt x="678942" y="18288"/>
                </a:cubicBezTo>
                <a:cubicBezTo>
                  <a:pt x="396357" y="-10877"/>
                  <a:pt x="271066" y="23005"/>
                  <a:pt x="0" y="18288"/>
                </a:cubicBezTo>
                <a:cubicBezTo>
                  <a:pt x="-306" y="11061"/>
                  <a:pt x="-655" y="7751"/>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8046AF44-91B4-6507-C87E-DFB0019E180D}"/>
              </a:ext>
            </a:extLst>
          </p:cNvPr>
          <p:cNvSpPr>
            <a:spLocks noGrp="1"/>
          </p:cNvSpPr>
          <p:nvPr>
            <p:ph type="body" idx="1"/>
          </p:nvPr>
        </p:nvSpPr>
        <p:spPr>
          <a:xfrm>
            <a:off x="5759354" y="2798064"/>
            <a:ext cx="5461095" cy="3417611"/>
          </a:xfrm>
        </p:spPr>
        <p:txBody>
          <a:bodyPr vert="horz" lIns="91440" tIns="45720" rIns="91440" bIns="45720" rtlCol="0" anchor="t">
            <a:normAutofit/>
          </a:bodyPr>
          <a:lstStyle/>
          <a:p>
            <a:pPr marL="0"/>
            <a:r>
              <a:rPr lang="en-US" sz="2200" b="1">
                <a:solidFill>
                  <a:srgbClr val="FFFFFF"/>
                </a:solidFill>
              </a:rPr>
              <a:t>Linear Progression: </a:t>
            </a:r>
          </a:p>
          <a:p>
            <a:pPr lvl="1"/>
            <a:r>
              <a:rPr lang="en-US" sz="2200">
                <a:solidFill>
                  <a:srgbClr val="FFFFFF"/>
                </a:solidFill>
              </a:rPr>
              <a:t>Requirements -&gt; Design -&gt; Implementation -&gt; Testing -&gt; Deployment</a:t>
            </a:r>
          </a:p>
          <a:p>
            <a:pPr lvl="1"/>
            <a:r>
              <a:rPr lang="en-US" sz="2200">
                <a:solidFill>
                  <a:srgbClr val="FFFFFF"/>
                </a:solidFill>
              </a:rPr>
              <a:t>Rigid structure: Phases must be fully completed before moving on.</a:t>
            </a:r>
          </a:p>
          <a:p>
            <a:pPr lvl="1"/>
            <a:r>
              <a:rPr lang="en-US" sz="2200">
                <a:solidFill>
                  <a:srgbClr val="FFFFFF"/>
                </a:solidFill>
              </a:rPr>
              <a:t>High risk of late-stage failure.</a:t>
            </a:r>
          </a:p>
        </p:txBody>
      </p:sp>
      <p:sp>
        <p:nvSpPr>
          <p:cNvPr id="30" name="Rectangle 29">
            <a:extLst>
              <a:ext uri="{FF2B5EF4-FFF2-40B4-BE49-F238E27FC236}">
                <a16:creationId xmlns:a16="http://schemas.microsoft.com/office/drawing/2014/main" id="{8BEB8BCF-CBBC-E6E1-B89B-D6DC7DF393FC}"/>
              </a:ext>
            </a:extLst>
          </p:cNvPr>
          <p:cNvSpPr/>
          <p:nvPr/>
        </p:nvSpPr>
        <p:spPr>
          <a:xfrm>
            <a:off x="727496" y="1880475"/>
            <a:ext cx="1764533" cy="508000"/>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Requirements</a:t>
            </a:r>
          </a:p>
        </p:txBody>
      </p:sp>
      <p:sp>
        <p:nvSpPr>
          <p:cNvPr id="31" name="Arrow: Down 30">
            <a:extLst>
              <a:ext uri="{FF2B5EF4-FFF2-40B4-BE49-F238E27FC236}">
                <a16:creationId xmlns:a16="http://schemas.microsoft.com/office/drawing/2014/main" id="{167FCA0B-E6F6-DA70-CA87-9379F0DCB4D0}"/>
              </a:ext>
            </a:extLst>
          </p:cNvPr>
          <p:cNvSpPr/>
          <p:nvPr/>
        </p:nvSpPr>
        <p:spPr>
          <a:xfrm>
            <a:off x="1425997" y="2388475"/>
            <a:ext cx="254000" cy="190500"/>
          </a:xfrm>
          <a:prstGeom prst="downArrow">
            <a:avLst/>
          </a:prstGeom>
          <a:solidFill>
            <a:srgbClr val="A6A6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73E30BB-1CA3-1F7F-4EDD-1FA7A4825A85}"/>
              </a:ext>
            </a:extLst>
          </p:cNvPr>
          <p:cNvSpPr/>
          <p:nvPr/>
        </p:nvSpPr>
        <p:spPr>
          <a:xfrm>
            <a:off x="1108497" y="2578975"/>
            <a:ext cx="1651000" cy="508000"/>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Design</a:t>
            </a:r>
          </a:p>
        </p:txBody>
      </p:sp>
      <p:sp>
        <p:nvSpPr>
          <p:cNvPr id="33" name="Arrow: Down 32">
            <a:extLst>
              <a:ext uri="{FF2B5EF4-FFF2-40B4-BE49-F238E27FC236}">
                <a16:creationId xmlns:a16="http://schemas.microsoft.com/office/drawing/2014/main" id="{EDB23993-8075-C13C-AC88-74F2ABE53B23}"/>
              </a:ext>
            </a:extLst>
          </p:cNvPr>
          <p:cNvSpPr/>
          <p:nvPr/>
        </p:nvSpPr>
        <p:spPr>
          <a:xfrm>
            <a:off x="1806997" y="3086975"/>
            <a:ext cx="254000" cy="190500"/>
          </a:xfrm>
          <a:prstGeom prst="downArrow">
            <a:avLst/>
          </a:prstGeom>
          <a:solidFill>
            <a:srgbClr val="A6A6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A00228A-63B6-CBC4-D392-FE74B8938E42}"/>
              </a:ext>
            </a:extLst>
          </p:cNvPr>
          <p:cNvSpPr/>
          <p:nvPr/>
        </p:nvSpPr>
        <p:spPr>
          <a:xfrm>
            <a:off x="1489497" y="3277475"/>
            <a:ext cx="1966028" cy="508000"/>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Implementation</a:t>
            </a:r>
          </a:p>
        </p:txBody>
      </p:sp>
      <p:sp>
        <p:nvSpPr>
          <p:cNvPr id="35" name="Arrow: Down 34">
            <a:extLst>
              <a:ext uri="{FF2B5EF4-FFF2-40B4-BE49-F238E27FC236}">
                <a16:creationId xmlns:a16="http://schemas.microsoft.com/office/drawing/2014/main" id="{CEB7EB5B-9FBF-E974-B9D7-013CEC285F9E}"/>
              </a:ext>
            </a:extLst>
          </p:cNvPr>
          <p:cNvSpPr/>
          <p:nvPr/>
        </p:nvSpPr>
        <p:spPr>
          <a:xfrm>
            <a:off x="2187997" y="3785475"/>
            <a:ext cx="254000" cy="190500"/>
          </a:xfrm>
          <a:prstGeom prst="downArrow">
            <a:avLst/>
          </a:prstGeom>
          <a:solidFill>
            <a:srgbClr val="A6A6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DD9F3E1-B6EE-CA07-0F17-E0D00A863800}"/>
              </a:ext>
            </a:extLst>
          </p:cNvPr>
          <p:cNvSpPr/>
          <p:nvPr/>
        </p:nvSpPr>
        <p:spPr>
          <a:xfrm>
            <a:off x="1870497" y="3975975"/>
            <a:ext cx="1651000" cy="508000"/>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Testing</a:t>
            </a:r>
          </a:p>
        </p:txBody>
      </p:sp>
      <p:sp>
        <p:nvSpPr>
          <p:cNvPr id="37" name="Arrow: Down 36">
            <a:extLst>
              <a:ext uri="{FF2B5EF4-FFF2-40B4-BE49-F238E27FC236}">
                <a16:creationId xmlns:a16="http://schemas.microsoft.com/office/drawing/2014/main" id="{24B74E32-1E43-BCE8-E10C-27A3F0D0CFAB}"/>
              </a:ext>
            </a:extLst>
          </p:cNvPr>
          <p:cNvSpPr/>
          <p:nvPr/>
        </p:nvSpPr>
        <p:spPr>
          <a:xfrm>
            <a:off x="2568997" y="4483975"/>
            <a:ext cx="254000" cy="190500"/>
          </a:xfrm>
          <a:prstGeom prst="downArrow">
            <a:avLst/>
          </a:prstGeom>
          <a:solidFill>
            <a:srgbClr val="A6A6A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42CFECA-6BDB-24E3-AAF0-1A0A3E02D061}"/>
              </a:ext>
            </a:extLst>
          </p:cNvPr>
          <p:cNvSpPr/>
          <p:nvPr/>
        </p:nvSpPr>
        <p:spPr>
          <a:xfrm>
            <a:off x="2251497" y="4674475"/>
            <a:ext cx="1651000" cy="508000"/>
          </a:xfrm>
          <a:prstGeom prst="rect">
            <a:avLst/>
          </a:prstGeom>
          <a:solidFill>
            <a:srgbClr val="0070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Deployment</a:t>
            </a:r>
          </a:p>
        </p:txBody>
      </p:sp>
    </p:spTree>
    <p:extLst>
      <p:ext uri="{BB962C8B-B14F-4D97-AF65-F5344CB8AC3E}">
        <p14:creationId xmlns:p14="http://schemas.microsoft.com/office/powerpoint/2010/main" val="947832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AA4BF5C-5581-2648-3F1C-BE3C3F171CF9}"/>
              </a:ext>
            </a:extLst>
          </p:cNvPr>
          <p:cNvSpPr>
            <a:spLocks noGrp="1"/>
          </p:cNvSpPr>
          <p:nvPr>
            <p:ph type="title"/>
          </p:nvPr>
        </p:nvSpPr>
        <p:spPr>
          <a:xfrm>
            <a:off x="5759354" y="457201"/>
            <a:ext cx="5337270" cy="1835911"/>
          </a:xfrm>
        </p:spPr>
        <p:txBody>
          <a:bodyPr vert="horz" lIns="91440" tIns="45720" rIns="91440" bIns="45720" rtlCol="0" anchor="b">
            <a:normAutofit/>
          </a:bodyPr>
          <a:lstStyle/>
          <a:p>
            <a:r>
              <a:rPr lang="en-US" sz="5000" b="1" kern="1200">
                <a:solidFill>
                  <a:srgbClr val="FFFFFF"/>
                </a:solidFill>
                <a:latin typeface="+mj-lt"/>
                <a:ea typeface="+mj-ea"/>
                <a:cs typeface="+mj-cs"/>
              </a:rPr>
              <a:t>The Modern SDLC: </a:t>
            </a:r>
            <a:r>
              <a:rPr lang="en-US" sz="5000" kern="1200">
                <a:solidFill>
                  <a:srgbClr val="FFFFFF"/>
                </a:solidFill>
                <a:latin typeface="+mj-lt"/>
                <a:ea typeface="+mj-ea"/>
                <a:cs typeface="+mj-cs"/>
              </a:rPr>
              <a:t>The Agile Approach</a:t>
            </a:r>
          </a:p>
        </p:txBody>
      </p:sp>
      <p:sp>
        <p:nvSpPr>
          <p:cNvPr id="20" name="sketch line">
            <a:extLst>
              <a:ext uri="{FF2B5EF4-FFF2-40B4-BE49-F238E27FC236}">
                <a16:creationId xmlns:a16="http://schemas.microsoft.com/office/drawing/2014/main" id="{49B530FE-A87D-41A0-A920-ADC6539EA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9353" y="2560829"/>
            <a:ext cx="5029200" cy="18288"/>
          </a:xfrm>
          <a:custGeom>
            <a:avLst/>
            <a:gdLst>
              <a:gd name="csX0" fmla="*/ 0 w 5029200"/>
              <a:gd name="csY0" fmla="*/ 0 h 18288"/>
              <a:gd name="csX1" fmla="*/ 528066 w 5029200"/>
              <a:gd name="csY1" fmla="*/ 0 h 18288"/>
              <a:gd name="csX2" fmla="*/ 1207008 w 5029200"/>
              <a:gd name="csY2" fmla="*/ 0 h 18288"/>
              <a:gd name="csX3" fmla="*/ 1785366 w 5029200"/>
              <a:gd name="csY3" fmla="*/ 0 h 18288"/>
              <a:gd name="csX4" fmla="*/ 2313432 w 5029200"/>
              <a:gd name="csY4" fmla="*/ 0 h 18288"/>
              <a:gd name="csX5" fmla="*/ 2992374 w 5029200"/>
              <a:gd name="csY5" fmla="*/ 0 h 18288"/>
              <a:gd name="csX6" fmla="*/ 3621024 w 5029200"/>
              <a:gd name="csY6" fmla="*/ 0 h 18288"/>
              <a:gd name="csX7" fmla="*/ 4249674 w 5029200"/>
              <a:gd name="csY7" fmla="*/ 0 h 18288"/>
              <a:gd name="csX8" fmla="*/ 5029200 w 5029200"/>
              <a:gd name="csY8" fmla="*/ 0 h 18288"/>
              <a:gd name="csX9" fmla="*/ 5029200 w 5029200"/>
              <a:gd name="csY9" fmla="*/ 18288 h 18288"/>
              <a:gd name="csX10" fmla="*/ 4501134 w 5029200"/>
              <a:gd name="csY10" fmla="*/ 18288 h 18288"/>
              <a:gd name="csX11" fmla="*/ 4023360 w 5029200"/>
              <a:gd name="csY11" fmla="*/ 18288 h 18288"/>
              <a:gd name="csX12" fmla="*/ 3344418 w 5029200"/>
              <a:gd name="csY12" fmla="*/ 18288 h 18288"/>
              <a:gd name="csX13" fmla="*/ 2816352 w 5029200"/>
              <a:gd name="csY13" fmla="*/ 18288 h 18288"/>
              <a:gd name="csX14" fmla="*/ 2137410 w 5029200"/>
              <a:gd name="csY14" fmla="*/ 18288 h 18288"/>
              <a:gd name="csX15" fmla="*/ 1408176 w 5029200"/>
              <a:gd name="csY15" fmla="*/ 18288 h 18288"/>
              <a:gd name="csX16" fmla="*/ 829818 w 5029200"/>
              <a:gd name="csY16" fmla="*/ 18288 h 18288"/>
              <a:gd name="csX17" fmla="*/ 0 w 5029200"/>
              <a:gd name="csY17" fmla="*/ 18288 h 18288"/>
              <a:gd name="csX18" fmla="*/ 0 w 5029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29200" h="18288" fill="none" extrusionOk="0">
                <a:moveTo>
                  <a:pt x="0" y="0"/>
                </a:moveTo>
                <a:cubicBezTo>
                  <a:pt x="142937" y="1696"/>
                  <a:pt x="371859" y="12840"/>
                  <a:pt x="528066" y="0"/>
                </a:cubicBezTo>
                <a:cubicBezTo>
                  <a:pt x="684273" y="-12840"/>
                  <a:pt x="928949" y="-5725"/>
                  <a:pt x="1207008" y="0"/>
                </a:cubicBezTo>
                <a:cubicBezTo>
                  <a:pt x="1485067" y="5725"/>
                  <a:pt x="1562886" y="-21331"/>
                  <a:pt x="1785366" y="0"/>
                </a:cubicBezTo>
                <a:cubicBezTo>
                  <a:pt x="2007846" y="21331"/>
                  <a:pt x="2056226" y="25221"/>
                  <a:pt x="2313432" y="0"/>
                </a:cubicBezTo>
                <a:cubicBezTo>
                  <a:pt x="2570638" y="-25221"/>
                  <a:pt x="2732455" y="16294"/>
                  <a:pt x="2992374" y="0"/>
                </a:cubicBezTo>
                <a:cubicBezTo>
                  <a:pt x="3252293" y="-16294"/>
                  <a:pt x="3319267" y="-29774"/>
                  <a:pt x="3621024" y="0"/>
                </a:cubicBezTo>
                <a:cubicBezTo>
                  <a:pt x="3922781" y="29774"/>
                  <a:pt x="3998107" y="-1004"/>
                  <a:pt x="4249674" y="0"/>
                </a:cubicBezTo>
                <a:cubicBezTo>
                  <a:pt x="4501241" y="1004"/>
                  <a:pt x="4792523" y="-4510"/>
                  <a:pt x="5029200" y="0"/>
                </a:cubicBezTo>
                <a:cubicBezTo>
                  <a:pt x="5029730" y="6954"/>
                  <a:pt x="5029934" y="12839"/>
                  <a:pt x="5029200" y="18288"/>
                </a:cubicBezTo>
                <a:cubicBezTo>
                  <a:pt x="4805432" y="23154"/>
                  <a:pt x="4715801" y="17034"/>
                  <a:pt x="4501134" y="18288"/>
                </a:cubicBezTo>
                <a:cubicBezTo>
                  <a:pt x="4286467" y="19542"/>
                  <a:pt x="4193719" y="41701"/>
                  <a:pt x="4023360" y="18288"/>
                </a:cubicBezTo>
                <a:cubicBezTo>
                  <a:pt x="3853001" y="-5125"/>
                  <a:pt x="3676466" y="16909"/>
                  <a:pt x="3344418" y="18288"/>
                </a:cubicBezTo>
                <a:cubicBezTo>
                  <a:pt x="3012370" y="19667"/>
                  <a:pt x="2945824" y="14410"/>
                  <a:pt x="2816352" y="18288"/>
                </a:cubicBezTo>
                <a:cubicBezTo>
                  <a:pt x="2686880" y="22166"/>
                  <a:pt x="2438351" y="13507"/>
                  <a:pt x="2137410" y="18288"/>
                </a:cubicBezTo>
                <a:cubicBezTo>
                  <a:pt x="1836469" y="23069"/>
                  <a:pt x="1581391" y="46111"/>
                  <a:pt x="1408176" y="18288"/>
                </a:cubicBezTo>
                <a:cubicBezTo>
                  <a:pt x="1234961" y="-9535"/>
                  <a:pt x="1040489" y="-7495"/>
                  <a:pt x="829818" y="18288"/>
                </a:cubicBezTo>
                <a:cubicBezTo>
                  <a:pt x="619147" y="44071"/>
                  <a:pt x="238626" y="37568"/>
                  <a:pt x="0" y="18288"/>
                </a:cubicBezTo>
                <a:cubicBezTo>
                  <a:pt x="-570" y="9279"/>
                  <a:pt x="132" y="5100"/>
                  <a:pt x="0" y="0"/>
                </a:cubicBezTo>
                <a:close/>
              </a:path>
              <a:path w="5029200" h="18288" stroke="0" extrusionOk="0">
                <a:moveTo>
                  <a:pt x="0" y="0"/>
                </a:moveTo>
                <a:cubicBezTo>
                  <a:pt x="165412" y="-21137"/>
                  <a:pt x="322344" y="-21985"/>
                  <a:pt x="578358" y="0"/>
                </a:cubicBezTo>
                <a:cubicBezTo>
                  <a:pt x="834372" y="21985"/>
                  <a:pt x="907099" y="-19195"/>
                  <a:pt x="1056132" y="0"/>
                </a:cubicBezTo>
                <a:cubicBezTo>
                  <a:pt x="1205165" y="19195"/>
                  <a:pt x="1612834" y="-24928"/>
                  <a:pt x="1785366" y="0"/>
                </a:cubicBezTo>
                <a:cubicBezTo>
                  <a:pt x="1957898" y="24928"/>
                  <a:pt x="2149044" y="19108"/>
                  <a:pt x="2363724" y="0"/>
                </a:cubicBezTo>
                <a:cubicBezTo>
                  <a:pt x="2578404" y="-19108"/>
                  <a:pt x="2759981" y="-21788"/>
                  <a:pt x="2942082" y="0"/>
                </a:cubicBezTo>
                <a:cubicBezTo>
                  <a:pt x="3124183" y="21788"/>
                  <a:pt x="3482217" y="8836"/>
                  <a:pt x="3671316" y="0"/>
                </a:cubicBezTo>
                <a:cubicBezTo>
                  <a:pt x="3860415" y="-8836"/>
                  <a:pt x="4058665" y="-25048"/>
                  <a:pt x="4199382" y="0"/>
                </a:cubicBezTo>
                <a:cubicBezTo>
                  <a:pt x="4340099" y="25048"/>
                  <a:pt x="4735096" y="-22088"/>
                  <a:pt x="5029200" y="0"/>
                </a:cubicBezTo>
                <a:cubicBezTo>
                  <a:pt x="5028517" y="5414"/>
                  <a:pt x="5028480" y="12510"/>
                  <a:pt x="5029200" y="18288"/>
                </a:cubicBezTo>
                <a:cubicBezTo>
                  <a:pt x="4891577" y="31493"/>
                  <a:pt x="4684146" y="-2509"/>
                  <a:pt x="4501134" y="18288"/>
                </a:cubicBezTo>
                <a:cubicBezTo>
                  <a:pt x="4318122" y="39085"/>
                  <a:pt x="4030703" y="3672"/>
                  <a:pt x="3872484" y="18288"/>
                </a:cubicBezTo>
                <a:cubicBezTo>
                  <a:pt x="3714265" y="32905"/>
                  <a:pt x="3546134" y="7501"/>
                  <a:pt x="3294126" y="18288"/>
                </a:cubicBezTo>
                <a:cubicBezTo>
                  <a:pt x="3042118" y="29075"/>
                  <a:pt x="2912116" y="11153"/>
                  <a:pt x="2564892" y="18288"/>
                </a:cubicBezTo>
                <a:cubicBezTo>
                  <a:pt x="2217668" y="25423"/>
                  <a:pt x="2095118" y="11659"/>
                  <a:pt x="1835658" y="18288"/>
                </a:cubicBezTo>
                <a:cubicBezTo>
                  <a:pt x="1576198" y="24917"/>
                  <a:pt x="1500897" y="19889"/>
                  <a:pt x="1307592" y="18288"/>
                </a:cubicBezTo>
                <a:cubicBezTo>
                  <a:pt x="1114287" y="16687"/>
                  <a:pt x="961527" y="47453"/>
                  <a:pt x="678942" y="18288"/>
                </a:cubicBezTo>
                <a:cubicBezTo>
                  <a:pt x="396357" y="-10877"/>
                  <a:pt x="271066" y="23005"/>
                  <a:pt x="0" y="18288"/>
                </a:cubicBezTo>
                <a:cubicBezTo>
                  <a:pt x="-306" y="11061"/>
                  <a:pt x="-655" y="7751"/>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656BA37-5B35-215A-134F-DBA009BBDFC4}"/>
              </a:ext>
            </a:extLst>
          </p:cNvPr>
          <p:cNvSpPr>
            <a:spLocks noGrp="1"/>
          </p:cNvSpPr>
          <p:nvPr>
            <p:ph type="body" idx="1"/>
          </p:nvPr>
        </p:nvSpPr>
        <p:spPr>
          <a:xfrm>
            <a:off x="5759354" y="2798064"/>
            <a:ext cx="5461095" cy="3417611"/>
          </a:xfrm>
        </p:spPr>
        <p:txBody>
          <a:bodyPr vert="horz" lIns="91440" tIns="45720" rIns="91440" bIns="45720" rtlCol="0" anchor="t">
            <a:normAutofit/>
          </a:bodyPr>
          <a:lstStyle/>
          <a:p>
            <a:pPr marL="0"/>
            <a:r>
              <a:rPr lang="en-US" sz="2200" b="1" dirty="0">
                <a:solidFill>
                  <a:srgbClr val="FFFFFF"/>
                </a:solidFill>
              </a:rPr>
              <a:t>Iterative Cycles: </a:t>
            </a:r>
          </a:p>
          <a:p>
            <a:pPr lvl="1"/>
            <a:r>
              <a:rPr lang="en-US" sz="2200" dirty="0">
                <a:solidFill>
                  <a:srgbClr val="FFFFFF"/>
                </a:solidFill>
              </a:rPr>
              <a:t>Plan -&gt; Design -&gt; Develop -&gt; Test -&gt; Deploy -&gt; Review</a:t>
            </a:r>
          </a:p>
          <a:p>
            <a:pPr lvl="1"/>
            <a:r>
              <a:rPr lang="en-US" sz="2200" dirty="0">
                <a:solidFill>
                  <a:srgbClr val="FFFFFF"/>
                </a:solidFill>
              </a:rPr>
              <a:t>Executed in 2-to-4-week 'Sprints.'</a:t>
            </a:r>
          </a:p>
          <a:p>
            <a:pPr lvl="1"/>
            <a:r>
              <a:rPr lang="en-US" sz="2200" dirty="0">
                <a:solidFill>
                  <a:srgbClr val="FFFFFF"/>
                </a:solidFill>
              </a:rPr>
              <a:t>Delivers working software increments continuously.</a:t>
            </a:r>
          </a:p>
        </p:txBody>
      </p:sp>
      <p:sp>
        <p:nvSpPr>
          <p:cNvPr id="6" name="TextBox 5">
            <a:extLst>
              <a:ext uri="{FF2B5EF4-FFF2-40B4-BE49-F238E27FC236}">
                <a16:creationId xmlns:a16="http://schemas.microsoft.com/office/drawing/2014/main" id="{678D13F4-63B1-7CD9-C33F-2169DDBAC0DE}"/>
              </a:ext>
            </a:extLst>
          </p:cNvPr>
          <p:cNvSpPr txBox="1"/>
          <p:nvPr/>
        </p:nvSpPr>
        <p:spPr>
          <a:xfrm>
            <a:off x="10036743" y="6351295"/>
            <a:ext cx="6097604" cy="369332"/>
          </a:xfrm>
          <a:prstGeom prst="rect">
            <a:avLst/>
          </a:prstGeom>
          <a:noFill/>
        </p:spPr>
        <p:txBody>
          <a:bodyPr wrap="square">
            <a:spAutoFit/>
          </a:bodyPr>
          <a:lstStyle/>
          <a:p>
            <a:r>
              <a:rPr lang="en-US" sz="1800" dirty="0">
                <a:solidFill>
                  <a:srgbClr val="FFFFFF"/>
                </a:solidFill>
              </a:rPr>
              <a:t>(Atlassian, 2024)</a:t>
            </a:r>
            <a:endParaRPr lang="en-US" dirty="0"/>
          </a:p>
        </p:txBody>
      </p:sp>
      <p:sp>
        <p:nvSpPr>
          <p:cNvPr id="7" name="Oval 6">
            <a:extLst>
              <a:ext uri="{FF2B5EF4-FFF2-40B4-BE49-F238E27FC236}">
                <a16:creationId xmlns:a16="http://schemas.microsoft.com/office/drawing/2014/main" id="{F0A4A54C-58B5-A4A9-961A-305C8FEEB611}"/>
              </a:ext>
            </a:extLst>
          </p:cNvPr>
          <p:cNvSpPr/>
          <p:nvPr/>
        </p:nvSpPr>
        <p:spPr>
          <a:xfrm>
            <a:off x="1798311" y="2737612"/>
            <a:ext cx="889000" cy="889000"/>
          </a:xfrm>
          <a:prstGeom prst="ellipse">
            <a:avLst/>
          </a:prstGeom>
          <a:solidFill>
            <a:srgbClr val="FFFFFF"/>
          </a:solid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rPr>
              <a:t>AGILE</a:t>
            </a:r>
          </a:p>
        </p:txBody>
      </p:sp>
      <p:sp>
        <p:nvSpPr>
          <p:cNvPr id="8" name="Rectangle: Rounded Corners 7">
            <a:extLst>
              <a:ext uri="{FF2B5EF4-FFF2-40B4-BE49-F238E27FC236}">
                <a16:creationId xmlns:a16="http://schemas.microsoft.com/office/drawing/2014/main" id="{DC520F62-5ABD-EF80-3DD9-2AB68F2249CE}"/>
              </a:ext>
            </a:extLst>
          </p:cNvPr>
          <p:cNvSpPr/>
          <p:nvPr/>
        </p:nvSpPr>
        <p:spPr>
          <a:xfrm>
            <a:off x="1734811" y="1785112"/>
            <a:ext cx="1016000" cy="508000"/>
          </a:xfrm>
          <a:prstGeom prst="round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Plan</a:t>
            </a:r>
          </a:p>
        </p:txBody>
      </p:sp>
      <p:sp>
        <p:nvSpPr>
          <p:cNvPr id="10" name="Rectangle: Rounded Corners 9">
            <a:extLst>
              <a:ext uri="{FF2B5EF4-FFF2-40B4-BE49-F238E27FC236}">
                <a16:creationId xmlns:a16="http://schemas.microsoft.com/office/drawing/2014/main" id="{B251A76A-FFB3-868B-B38F-CD4F97B0F832}"/>
              </a:ext>
            </a:extLst>
          </p:cNvPr>
          <p:cNvSpPr/>
          <p:nvPr/>
        </p:nvSpPr>
        <p:spPr>
          <a:xfrm>
            <a:off x="2724678" y="2356612"/>
            <a:ext cx="1016000" cy="508000"/>
          </a:xfrm>
          <a:prstGeom prst="round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Design</a:t>
            </a:r>
          </a:p>
        </p:txBody>
      </p:sp>
      <p:sp>
        <p:nvSpPr>
          <p:cNvPr id="12" name="Rectangle: Rounded Corners 11">
            <a:extLst>
              <a:ext uri="{FF2B5EF4-FFF2-40B4-BE49-F238E27FC236}">
                <a16:creationId xmlns:a16="http://schemas.microsoft.com/office/drawing/2014/main" id="{A011A04B-1FD5-B98B-F26D-AA138A76D7F8}"/>
              </a:ext>
            </a:extLst>
          </p:cNvPr>
          <p:cNvSpPr/>
          <p:nvPr/>
        </p:nvSpPr>
        <p:spPr>
          <a:xfrm>
            <a:off x="2724677" y="3499612"/>
            <a:ext cx="1160371" cy="508000"/>
          </a:xfrm>
          <a:prstGeom prst="round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Develop</a:t>
            </a:r>
          </a:p>
        </p:txBody>
      </p:sp>
      <p:sp>
        <p:nvSpPr>
          <p:cNvPr id="13" name="Rectangle: Rounded Corners 12">
            <a:extLst>
              <a:ext uri="{FF2B5EF4-FFF2-40B4-BE49-F238E27FC236}">
                <a16:creationId xmlns:a16="http://schemas.microsoft.com/office/drawing/2014/main" id="{0D2A6EEC-8DA2-1217-0551-1C0E530E3A59}"/>
              </a:ext>
            </a:extLst>
          </p:cNvPr>
          <p:cNvSpPr/>
          <p:nvPr/>
        </p:nvSpPr>
        <p:spPr>
          <a:xfrm>
            <a:off x="1734811" y="4071112"/>
            <a:ext cx="1016000" cy="508000"/>
          </a:xfrm>
          <a:prstGeom prst="round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Test</a:t>
            </a:r>
          </a:p>
        </p:txBody>
      </p:sp>
      <p:sp>
        <p:nvSpPr>
          <p:cNvPr id="14" name="Rectangle: Rounded Corners 13">
            <a:extLst>
              <a:ext uri="{FF2B5EF4-FFF2-40B4-BE49-F238E27FC236}">
                <a16:creationId xmlns:a16="http://schemas.microsoft.com/office/drawing/2014/main" id="{ED7B1ED3-E646-3420-37EC-4BC49897BFE8}"/>
              </a:ext>
            </a:extLst>
          </p:cNvPr>
          <p:cNvSpPr/>
          <p:nvPr/>
        </p:nvSpPr>
        <p:spPr>
          <a:xfrm>
            <a:off x="744944" y="3499612"/>
            <a:ext cx="1016000" cy="508000"/>
          </a:xfrm>
          <a:prstGeom prst="round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Deploy</a:t>
            </a:r>
          </a:p>
        </p:txBody>
      </p:sp>
      <p:sp>
        <p:nvSpPr>
          <p:cNvPr id="15" name="Rectangle: Rounded Corners 14">
            <a:extLst>
              <a:ext uri="{FF2B5EF4-FFF2-40B4-BE49-F238E27FC236}">
                <a16:creationId xmlns:a16="http://schemas.microsoft.com/office/drawing/2014/main" id="{46AAA620-87B2-E964-04E7-6A0519391BE7}"/>
              </a:ext>
            </a:extLst>
          </p:cNvPr>
          <p:cNvSpPr/>
          <p:nvPr/>
        </p:nvSpPr>
        <p:spPr>
          <a:xfrm>
            <a:off x="744944" y="2356612"/>
            <a:ext cx="1016000" cy="508000"/>
          </a:xfrm>
          <a:prstGeom prst="round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Review</a:t>
            </a:r>
          </a:p>
        </p:txBody>
      </p:sp>
    </p:spTree>
    <p:extLst>
      <p:ext uri="{BB962C8B-B14F-4D97-AF65-F5344CB8AC3E}">
        <p14:creationId xmlns:p14="http://schemas.microsoft.com/office/powerpoint/2010/main" val="1942008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6" name="Rectangle 2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3F161F17-9F3B-BE74-71CA-6506A2E65B58}"/>
              </a:ext>
            </a:extLst>
          </p:cNvPr>
          <p:cNvSpPr>
            <a:spLocks noGrp="1"/>
          </p:cNvSpPr>
          <p:nvPr>
            <p:ph type="title"/>
          </p:nvPr>
        </p:nvSpPr>
        <p:spPr>
          <a:xfrm>
            <a:off x="1043631" y="809898"/>
            <a:ext cx="10173010" cy="1554480"/>
          </a:xfrm>
        </p:spPr>
        <p:txBody>
          <a:bodyPr vert="horz" lIns="91440" tIns="45720" rIns="91440" bIns="45720" rtlCol="0" anchor="ctr">
            <a:normAutofit/>
          </a:bodyPr>
          <a:lstStyle/>
          <a:p>
            <a:r>
              <a:rPr lang="en-US" sz="4800" kern="1200">
                <a:solidFill>
                  <a:schemeClr val="tx1"/>
                </a:solidFill>
                <a:latin typeface="+mj-lt"/>
                <a:ea typeface="+mj-ea"/>
                <a:cs typeface="+mj-cs"/>
              </a:rPr>
              <a:t>The Engine of Agile: Scrum Team Roles</a:t>
            </a:r>
          </a:p>
        </p:txBody>
      </p:sp>
      <p:cxnSp>
        <p:nvCxnSpPr>
          <p:cNvPr id="32" name="Straight Connector 3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19" name="TextBox 16">
            <a:extLst>
              <a:ext uri="{FF2B5EF4-FFF2-40B4-BE49-F238E27FC236}">
                <a16:creationId xmlns:a16="http://schemas.microsoft.com/office/drawing/2014/main" id="{4E3AC69F-E17E-82ED-5A91-8560EB32E222}"/>
              </a:ext>
            </a:extLst>
          </p:cNvPr>
          <p:cNvGraphicFramePr/>
          <p:nvPr>
            <p:extLst>
              <p:ext uri="{D42A27DB-BD31-4B8C-83A1-F6EECF244321}">
                <p14:modId xmlns:p14="http://schemas.microsoft.com/office/powerpoint/2010/main" val="1539782842"/>
              </p:ext>
            </p:extLst>
          </p:nvPr>
        </p:nvGraphicFramePr>
        <p:xfrm>
          <a:off x="3744324" y="2759784"/>
          <a:ext cx="7803242" cy="24936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2" name="Straight Arrow Connector 1">
            <a:extLst>
              <a:ext uri="{FF2B5EF4-FFF2-40B4-BE49-F238E27FC236}">
                <a16:creationId xmlns:a16="http://schemas.microsoft.com/office/drawing/2014/main" id="{9C96AFFC-E45D-F1AE-D535-B52CB694B44B}"/>
              </a:ext>
            </a:extLst>
          </p:cNvPr>
          <p:cNvCxnSpPr/>
          <p:nvPr/>
        </p:nvCxnSpPr>
        <p:spPr>
          <a:xfrm flipV="1">
            <a:off x="2229583" y="3439465"/>
            <a:ext cx="0" cy="1270000"/>
          </a:xfrm>
          <a:prstGeom prst="straightConnector1">
            <a:avLst/>
          </a:prstGeom>
          <a:ln w="254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040882FF-2444-3EC6-1074-C77DE037F4E5}"/>
              </a:ext>
            </a:extLst>
          </p:cNvPr>
          <p:cNvCxnSpPr/>
          <p:nvPr/>
        </p:nvCxnSpPr>
        <p:spPr>
          <a:xfrm>
            <a:off x="2229583" y="4709465"/>
            <a:ext cx="1099852" cy="635000"/>
          </a:xfrm>
          <a:prstGeom prst="straightConnector1">
            <a:avLst/>
          </a:prstGeom>
          <a:ln w="25400">
            <a:solidFill>
              <a:srgbClr val="A6A6A6"/>
            </a:solidFill>
          </a:ln>
        </p:spPr>
        <p:style>
          <a:lnRef idx="2">
            <a:schemeClr val="accent1"/>
          </a:lnRef>
          <a:fillRef idx="0">
            <a:schemeClr val="accent1"/>
          </a:fillRef>
          <a:effectRef idx="1">
            <a:schemeClr val="accent1"/>
          </a:effectRef>
          <a:fontRef idx="minor">
            <a:schemeClr val="tx1"/>
          </a:fontRef>
        </p:style>
      </p:cxnSp>
      <p:cxnSp>
        <p:nvCxnSpPr>
          <p:cNvPr id="5" name="Straight Arrow Connector 4">
            <a:extLst>
              <a:ext uri="{FF2B5EF4-FFF2-40B4-BE49-F238E27FC236}">
                <a16:creationId xmlns:a16="http://schemas.microsoft.com/office/drawing/2014/main" id="{BBFF60B3-3CCB-F43D-0539-CDED270A92A9}"/>
              </a:ext>
            </a:extLst>
          </p:cNvPr>
          <p:cNvCxnSpPr/>
          <p:nvPr/>
        </p:nvCxnSpPr>
        <p:spPr>
          <a:xfrm flipH="1">
            <a:off x="1129731" y="4709465"/>
            <a:ext cx="1099852" cy="635000"/>
          </a:xfrm>
          <a:prstGeom prst="straightConnector1">
            <a:avLst/>
          </a:prstGeom>
          <a:ln w="25400">
            <a:solidFill>
              <a:srgbClr val="A6A6A6"/>
            </a:solidFill>
          </a:ln>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8C60524C-B788-C1D4-E3FB-29D47822862E}"/>
              </a:ext>
            </a:extLst>
          </p:cNvPr>
          <p:cNvSpPr/>
          <p:nvPr/>
        </p:nvSpPr>
        <p:spPr>
          <a:xfrm>
            <a:off x="1594583" y="4074465"/>
            <a:ext cx="1270000" cy="1270000"/>
          </a:xfrm>
          <a:prstGeom prst="ellipse">
            <a:avLst/>
          </a:prstGeom>
          <a:solidFill>
            <a:srgbClr val="ED7D3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Scrum Team</a:t>
            </a:r>
          </a:p>
        </p:txBody>
      </p:sp>
      <p:sp>
        <p:nvSpPr>
          <p:cNvPr id="7" name="Rectangle 6">
            <a:extLst>
              <a:ext uri="{FF2B5EF4-FFF2-40B4-BE49-F238E27FC236}">
                <a16:creationId xmlns:a16="http://schemas.microsoft.com/office/drawing/2014/main" id="{663B8562-2D26-DDBA-68D1-FF9BB71C2912}"/>
              </a:ext>
            </a:extLst>
          </p:cNvPr>
          <p:cNvSpPr/>
          <p:nvPr/>
        </p:nvSpPr>
        <p:spPr>
          <a:xfrm>
            <a:off x="1467583" y="3121965"/>
            <a:ext cx="1524000" cy="635000"/>
          </a:xfrm>
          <a:prstGeom prst="rect">
            <a:avLst/>
          </a:prstGeom>
          <a:solidFill>
            <a:srgbClr val="4472C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FFFF"/>
                </a:solidFill>
              </a:rPr>
              <a:t>Product Owner</a:t>
            </a:r>
          </a:p>
        </p:txBody>
      </p:sp>
      <p:sp>
        <p:nvSpPr>
          <p:cNvPr id="8" name="Rectangle 7">
            <a:extLst>
              <a:ext uri="{FF2B5EF4-FFF2-40B4-BE49-F238E27FC236}">
                <a16:creationId xmlns:a16="http://schemas.microsoft.com/office/drawing/2014/main" id="{72D37FC9-FF8E-A306-82AA-FBC21CB9CC6D}"/>
              </a:ext>
            </a:extLst>
          </p:cNvPr>
          <p:cNvSpPr/>
          <p:nvPr/>
        </p:nvSpPr>
        <p:spPr>
          <a:xfrm>
            <a:off x="2711450" y="5344465"/>
            <a:ext cx="1524000" cy="635000"/>
          </a:xfrm>
          <a:prstGeom prst="rect">
            <a:avLst/>
          </a:prstGeom>
          <a:solidFill>
            <a:srgbClr val="4472C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FFFFFF"/>
                </a:solidFill>
              </a:rPr>
              <a:t>Scrum Master</a:t>
            </a:r>
          </a:p>
        </p:txBody>
      </p:sp>
      <p:sp>
        <p:nvSpPr>
          <p:cNvPr id="9" name="Rectangle 8">
            <a:extLst>
              <a:ext uri="{FF2B5EF4-FFF2-40B4-BE49-F238E27FC236}">
                <a16:creationId xmlns:a16="http://schemas.microsoft.com/office/drawing/2014/main" id="{DDCAD88F-7388-D8EF-4C84-A9BDD0AE364A}"/>
              </a:ext>
            </a:extLst>
          </p:cNvPr>
          <p:cNvSpPr/>
          <p:nvPr/>
        </p:nvSpPr>
        <p:spPr>
          <a:xfrm>
            <a:off x="367730" y="5344465"/>
            <a:ext cx="1524000" cy="635000"/>
          </a:xfrm>
          <a:prstGeom prst="rect">
            <a:avLst/>
          </a:prstGeom>
          <a:solidFill>
            <a:srgbClr val="4472C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FFFF"/>
                </a:solidFill>
              </a:rPr>
              <a:t>Development Team</a:t>
            </a:r>
          </a:p>
        </p:txBody>
      </p:sp>
    </p:spTree>
    <p:extLst>
      <p:ext uri="{BB962C8B-B14F-4D97-AF65-F5344CB8AC3E}">
        <p14:creationId xmlns:p14="http://schemas.microsoft.com/office/powerpoint/2010/main" val="768713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FA291E6-58E3-C80C-7703-2145A7180E30}"/>
              </a:ext>
            </a:extLst>
          </p:cNvPr>
          <p:cNvPicPr>
            <a:picLocks noChangeAspect="1"/>
          </p:cNvPicPr>
          <p:nvPr/>
        </p:nvPicPr>
        <p:blipFill>
          <a:blip r:embed="rId3"/>
          <a:srcRect l="15852" r="17398"/>
          <a:stretch>
            <a:fillRect/>
          </a:stretch>
        </p:blipFill>
        <p:spPr>
          <a:xfrm>
            <a:off x="764988" y="1744515"/>
            <a:ext cx="3368969" cy="3368969"/>
          </a:xfrm>
          <a:prstGeom prst="rect">
            <a:avLst/>
          </a:prstGeom>
        </p:spPr>
      </p:pic>
      <p:sp>
        <p:nvSpPr>
          <p:cNvPr id="31" name="Freeform: Shape 30">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B64A7A9-45C9-58B3-82FF-DC3BA0AFD246}"/>
              </a:ext>
            </a:extLst>
          </p:cNvPr>
          <p:cNvSpPr>
            <a:spLocks noGrp="1"/>
          </p:cNvSpPr>
          <p:nvPr>
            <p:ph type="title"/>
          </p:nvPr>
        </p:nvSpPr>
        <p:spPr>
          <a:xfrm>
            <a:off x="5759354" y="457201"/>
            <a:ext cx="5337270" cy="1835911"/>
          </a:xfrm>
        </p:spPr>
        <p:txBody>
          <a:bodyPr vert="horz" lIns="91440" tIns="45720" rIns="91440" bIns="45720" rtlCol="0" anchor="b">
            <a:normAutofit/>
          </a:bodyPr>
          <a:lstStyle/>
          <a:p>
            <a:r>
              <a:rPr lang="en-US" sz="5400" b="1" kern="1200" dirty="0">
                <a:solidFill>
                  <a:srgbClr val="FFFFFF"/>
                </a:solidFill>
                <a:latin typeface="+mj-lt"/>
                <a:ea typeface="+mj-ea"/>
                <a:cs typeface="+mj-cs"/>
              </a:rPr>
              <a:t>Case Study:</a:t>
            </a:r>
            <a:br>
              <a:rPr lang="en-US" sz="5400" b="1" kern="1200" dirty="0">
                <a:solidFill>
                  <a:srgbClr val="FFFFFF"/>
                </a:solidFill>
                <a:latin typeface="+mj-lt"/>
                <a:ea typeface="+mj-ea"/>
                <a:cs typeface="+mj-cs"/>
              </a:rPr>
            </a:br>
            <a:r>
              <a:rPr lang="en-US" sz="5400" b="1" kern="1200" dirty="0">
                <a:solidFill>
                  <a:srgbClr val="FFFFFF"/>
                </a:solidFill>
                <a:latin typeface="+mj-lt"/>
                <a:ea typeface="+mj-ea"/>
                <a:cs typeface="+mj-cs"/>
              </a:rPr>
              <a:t> </a:t>
            </a:r>
            <a:r>
              <a:rPr lang="en-US" sz="4000" kern="1200" dirty="0">
                <a:solidFill>
                  <a:srgbClr val="FFFFFF"/>
                </a:solidFill>
                <a:latin typeface="+mj-lt"/>
                <a:ea typeface="+mj-ea"/>
                <a:cs typeface="+mj-cs"/>
              </a:rPr>
              <a:t>Wellness Changes</a:t>
            </a:r>
            <a:endParaRPr lang="en-US" sz="5400" kern="1200" dirty="0">
              <a:solidFill>
                <a:srgbClr val="FFFFFF"/>
              </a:solidFill>
              <a:latin typeface="+mj-lt"/>
              <a:ea typeface="+mj-ea"/>
              <a:cs typeface="+mj-cs"/>
            </a:endParaRPr>
          </a:p>
        </p:txBody>
      </p:sp>
      <p:sp>
        <p:nvSpPr>
          <p:cNvPr id="33" name="sketch line">
            <a:extLst>
              <a:ext uri="{FF2B5EF4-FFF2-40B4-BE49-F238E27FC236}">
                <a16:creationId xmlns:a16="http://schemas.microsoft.com/office/drawing/2014/main" id="{49B530FE-A87D-41A0-A920-ADC6539EA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9353" y="2560829"/>
            <a:ext cx="5029200" cy="18288"/>
          </a:xfrm>
          <a:custGeom>
            <a:avLst/>
            <a:gdLst>
              <a:gd name="csX0" fmla="*/ 0 w 5029200"/>
              <a:gd name="csY0" fmla="*/ 0 h 18288"/>
              <a:gd name="csX1" fmla="*/ 528066 w 5029200"/>
              <a:gd name="csY1" fmla="*/ 0 h 18288"/>
              <a:gd name="csX2" fmla="*/ 1207008 w 5029200"/>
              <a:gd name="csY2" fmla="*/ 0 h 18288"/>
              <a:gd name="csX3" fmla="*/ 1785366 w 5029200"/>
              <a:gd name="csY3" fmla="*/ 0 h 18288"/>
              <a:gd name="csX4" fmla="*/ 2313432 w 5029200"/>
              <a:gd name="csY4" fmla="*/ 0 h 18288"/>
              <a:gd name="csX5" fmla="*/ 2992374 w 5029200"/>
              <a:gd name="csY5" fmla="*/ 0 h 18288"/>
              <a:gd name="csX6" fmla="*/ 3621024 w 5029200"/>
              <a:gd name="csY6" fmla="*/ 0 h 18288"/>
              <a:gd name="csX7" fmla="*/ 4249674 w 5029200"/>
              <a:gd name="csY7" fmla="*/ 0 h 18288"/>
              <a:gd name="csX8" fmla="*/ 5029200 w 5029200"/>
              <a:gd name="csY8" fmla="*/ 0 h 18288"/>
              <a:gd name="csX9" fmla="*/ 5029200 w 5029200"/>
              <a:gd name="csY9" fmla="*/ 18288 h 18288"/>
              <a:gd name="csX10" fmla="*/ 4501134 w 5029200"/>
              <a:gd name="csY10" fmla="*/ 18288 h 18288"/>
              <a:gd name="csX11" fmla="*/ 4023360 w 5029200"/>
              <a:gd name="csY11" fmla="*/ 18288 h 18288"/>
              <a:gd name="csX12" fmla="*/ 3344418 w 5029200"/>
              <a:gd name="csY12" fmla="*/ 18288 h 18288"/>
              <a:gd name="csX13" fmla="*/ 2816352 w 5029200"/>
              <a:gd name="csY13" fmla="*/ 18288 h 18288"/>
              <a:gd name="csX14" fmla="*/ 2137410 w 5029200"/>
              <a:gd name="csY14" fmla="*/ 18288 h 18288"/>
              <a:gd name="csX15" fmla="*/ 1408176 w 5029200"/>
              <a:gd name="csY15" fmla="*/ 18288 h 18288"/>
              <a:gd name="csX16" fmla="*/ 829818 w 5029200"/>
              <a:gd name="csY16" fmla="*/ 18288 h 18288"/>
              <a:gd name="csX17" fmla="*/ 0 w 5029200"/>
              <a:gd name="csY17" fmla="*/ 18288 h 18288"/>
              <a:gd name="csX18" fmla="*/ 0 w 5029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29200" h="18288" fill="none" extrusionOk="0">
                <a:moveTo>
                  <a:pt x="0" y="0"/>
                </a:moveTo>
                <a:cubicBezTo>
                  <a:pt x="142937" y="1696"/>
                  <a:pt x="371859" y="12840"/>
                  <a:pt x="528066" y="0"/>
                </a:cubicBezTo>
                <a:cubicBezTo>
                  <a:pt x="684273" y="-12840"/>
                  <a:pt x="928949" y="-5725"/>
                  <a:pt x="1207008" y="0"/>
                </a:cubicBezTo>
                <a:cubicBezTo>
                  <a:pt x="1485067" y="5725"/>
                  <a:pt x="1562886" y="-21331"/>
                  <a:pt x="1785366" y="0"/>
                </a:cubicBezTo>
                <a:cubicBezTo>
                  <a:pt x="2007846" y="21331"/>
                  <a:pt x="2056226" y="25221"/>
                  <a:pt x="2313432" y="0"/>
                </a:cubicBezTo>
                <a:cubicBezTo>
                  <a:pt x="2570638" y="-25221"/>
                  <a:pt x="2732455" y="16294"/>
                  <a:pt x="2992374" y="0"/>
                </a:cubicBezTo>
                <a:cubicBezTo>
                  <a:pt x="3252293" y="-16294"/>
                  <a:pt x="3319267" y="-29774"/>
                  <a:pt x="3621024" y="0"/>
                </a:cubicBezTo>
                <a:cubicBezTo>
                  <a:pt x="3922781" y="29774"/>
                  <a:pt x="3998107" y="-1004"/>
                  <a:pt x="4249674" y="0"/>
                </a:cubicBezTo>
                <a:cubicBezTo>
                  <a:pt x="4501241" y="1004"/>
                  <a:pt x="4792523" y="-4510"/>
                  <a:pt x="5029200" y="0"/>
                </a:cubicBezTo>
                <a:cubicBezTo>
                  <a:pt x="5029730" y="6954"/>
                  <a:pt x="5029934" y="12839"/>
                  <a:pt x="5029200" y="18288"/>
                </a:cubicBezTo>
                <a:cubicBezTo>
                  <a:pt x="4805432" y="23154"/>
                  <a:pt x="4715801" y="17034"/>
                  <a:pt x="4501134" y="18288"/>
                </a:cubicBezTo>
                <a:cubicBezTo>
                  <a:pt x="4286467" y="19542"/>
                  <a:pt x="4193719" y="41701"/>
                  <a:pt x="4023360" y="18288"/>
                </a:cubicBezTo>
                <a:cubicBezTo>
                  <a:pt x="3853001" y="-5125"/>
                  <a:pt x="3676466" y="16909"/>
                  <a:pt x="3344418" y="18288"/>
                </a:cubicBezTo>
                <a:cubicBezTo>
                  <a:pt x="3012370" y="19667"/>
                  <a:pt x="2945824" y="14410"/>
                  <a:pt x="2816352" y="18288"/>
                </a:cubicBezTo>
                <a:cubicBezTo>
                  <a:pt x="2686880" y="22166"/>
                  <a:pt x="2438351" y="13507"/>
                  <a:pt x="2137410" y="18288"/>
                </a:cubicBezTo>
                <a:cubicBezTo>
                  <a:pt x="1836469" y="23069"/>
                  <a:pt x="1581391" y="46111"/>
                  <a:pt x="1408176" y="18288"/>
                </a:cubicBezTo>
                <a:cubicBezTo>
                  <a:pt x="1234961" y="-9535"/>
                  <a:pt x="1040489" y="-7495"/>
                  <a:pt x="829818" y="18288"/>
                </a:cubicBezTo>
                <a:cubicBezTo>
                  <a:pt x="619147" y="44071"/>
                  <a:pt x="238626" y="37568"/>
                  <a:pt x="0" y="18288"/>
                </a:cubicBezTo>
                <a:cubicBezTo>
                  <a:pt x="-570" y="9279"/>
                  <a:pt x="132" y="5100"/>
                  <a:pt x="0" y="0"/>
                </a:cubicBezTo>
                <a:close/>
              </a:path>
              <a:path w="5029200" h="18288" stroke="0" extrusionOk="0">
                <a:moveTo>
                  <a:pt x="0" y="0"/>
                </a:moveTo>
                <a:cubicBezTo>
                  <a:pt x="165412" y="-21137"/>
                  <a:pt x="322344" y="-21985"/>
                  <a:pt x="578358" y="0"/>
                </a:cubicBezTo>
                <a:cubicBezTo>
                  <a:pt x="834372" y="21985"/>
                  <a:pt x="907099" y="-19195"/>
                  <a:pt x="1056132" y="0"/>
                </a:cubicBezTo>
                <a:cubicBezTo>
                  <a:pt x="1205165" y="19195"/>
                  <a:pt x="1612834" y="-24928"/>
                  <a:pt x="1785366" y="0"/>
                </a:cubicBezTo>
                <a:cubicBezTo>
                  <a:pt x="1957898" y="24928"/>
                  <a:pt x="2149044" y="19108"/>
                  <a:pt x="2363724" y="0"/>
                </a:cubicBezTo>
                <a:cubicBezTo>
                  <a:pt x="2578404" y="-19108"/>
                  <a:pt x="2759981" y="-21788"/>
                  <a:pt x="2942082" y="0"/>
                </a:cubicBezTo>
                <a:cubicBezTo>
                  <a:pt x="3124183" y="21788"/>
                  <a:pt x="3482217" y="8836"/>
                  <a:pt x="3671316" y="0"/>
                </a:cubicBezTo>
                <a:cubicBezTo>
                  <a:pt x="3860415" y="-8836"/>
                  <a:pt x="4058665" y="-25048"/>
                  <a:pt x="4199382" y="0"/>
                </a:cubicBezTo>
                <a:cubicBezTo>
                  <a:pt x="4340099" y="25048"/>
                  <a:pt x="4735096" y="-22088"/>
                  <a:pt x="5029200" y="0"/>
                </a:cubicBezTo>
                <a:cubicBezTo>
                  <a:pt x="5028517" y="5414"/>
                  <a:pt x="5028480" y="12510"/>
                  <a:pt x="5029200" y="18288"/>
                </a:cubicBezTo>
                <a:cubicBezTo>
                  <a:pt x="4891577" y="31493"/>
                  <a:pt x="4684146" y="-2509"/>
                  <a:pt x="4501134" y="18288"/>
                </a:cubicBezTo>
                <a:cubicBezTo>
                  <a:pt x="4318122" y="39085"/>
                  <a:pt x="4030703" y="3672"/>
                  <a:pt x="3872484" y="18288"/>
                </a:cubicBezTo>
                <a:cubicBezTo>
                  <a:pt x="3714265" y="32905"/>
                  <a:pt x="3546134" y="7501"/>
                  <a:pt x="3294126" y="18288"/>
                </a:cubicBezTo>
                <a:cubicBezTo>
                  <a:pt x="3042118" y="29075"/>
                  <a:pt x="2912116" y="11153"/>
                  <a:pt x="2564892" y="18288"/>
                </a:cubicBezTo>
                <a:cubicBezTo>
                  <a:pt x="2217668" y="25423"/>
                  <a:pt x="2095118" y="11659"/>
                  <a:pt x="1835658" y="18288"/>
                </a:cubicBezTo>
                <a:cubicBezTo>
                  <a:pt x="1576198" y="24917"/>
                  <a:pt x="1500897" y="19889"/>
                  <a:pt x="1307592" y="18288"/>
                </a:cubicBezTo>
                <a:cubicBezTo>
                  <a:pt x="1114287" y="16687"/>
                  <a:pt x="961527" y="47453"/>
                  <a:pt x="678942" y="18288"/>
                </a:cubicBezTo>
                <a:cubicBezTo>
                  <a:pt x="396357" y="-10877"/>
                  <a:pt x="271066" y="23005"/>
                  <a:pt x="0" y="18288"/>
                </a:cubicBezTo>
                <a:cubicBezTo>
                  <a:pt x="-306" y="11061"/>
                  <a:pt x="-655" y="7751"/>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 Placeholder 2">
            <a:extLst>
              <a:ext uri="{FF2B5EF4-FFF2-40B4-BE49-F238E27FC236}">
                <a16:creationId xmlns:a16="http://schemas.microsoft.com/office/drawing/2014/main" id="{A73CE7D1-326E-64BC-BA19-A7DB4FB9FF58}"/>
              </a:ext>
            </a:extLst>
          </p:cNvPr>
          <p:cNvGraphicFramePr/>
          <p:nvPr>
            <p:extLst>
              <p:ext uri="{D42A27DB-BD31-4B8C-83A1-F6EECF244321}">
                <p14:modId xmlns:p14="http://schemas.microsoft.com/office/powerpoint/2010/main" val="2029193666"/>
              </p:ext>
            </p:extLst>
          </p:nvPr>
        </p:nvGraphicFramePr>
        <p:xfrm>
          <a:off x="5759354" y="2798064"/>
          <a:ext cx="5461095" cy="34176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A25C8C51-AE4A-33B1-F563-B20CA9F2887B}"/>
              </a:ext>
            </a:extLst>
          </p:cNvPr>
          <p:cNvSpPr txBox="1"/>
          <p:nvPr/>
        </p:nvSpPr>
        <p:spPr>
          <a:xfrm>
            <a:off x="9408226" y="6351295"/>
            <a:ext cx="6097604" cy="369332"/>
          </a:xfrm>
          <a:prstGeom prst="rect">
            <a:avLst/>
          </a:prstGeom>
          <a:noFill/>
        </p:spPr>
        <p:txBody>
          <a:bodyPr wrap="square">
            <a:spAutoFit/>
          </a:bodyPr>
          <a:lstStyle/>
          <a:p>
            <a:pPr lvl="0"/>
            <a:r>
              <a:rPr lang="en-US" dirty="0">
                <a:latin typeface="Arial" panose="020B0604020202020204" pitchFamily="34" charset="0"/>
                <a:cs typeface="Arial" panose="020B0604020202020204" pitchFamily="34" charset="0"/>
              </a:rPr>
              <a:t>(Drummond, 2021)</a:t>
            </a:r>
            <a:endParaRPr lang="en-US" dirty="0"/>
          </a:p>
        </p:txBody>
      </p:sp>
      <p:pic>
        <p:nvPicPr>
          <p:cNvPr id="4" name="Picture 3">
            <a:extLst>
              <a:ext uri="{FF2B5EF4-FFF2-40B4-BE49-F238E27FC236}">
                <a16:creationId xmlns:a16="http://schemas.microsoft.com/office/drawing/2014/main" id="{F02CD405-0591-691B-CE93-22CD0495CDB9}"/>
              </a:ext>
            </a:extLst>
          </p:cNvPr>
          <p:cNvPicPr>
            <a:picLocks noChangeAspect="1"/>
          </p:cNvPicPr>
          <p:nvPr/>
        </p:nvPicPr>
        <p:blipFill>
          <a:blip r:embed="rId9"/>
          <a:stretch>
            <a:fillRect/>
          </a:stretch>
        </p:blipFill>
        <p:spPr>
          <a:xfrm>
            <a:off x="764988" y="1744515"/>
            <a:ext cx="3437522" cy="3418035"/>
          </a:xfrm>
          <a:prstGeom prst="rect">
            <a:avLst/>
          </a:prstGeom>
        </p:spPr>
      </p:pic>
    </p:spTree>
    <p:extLst>
      <p:ext uri="{BB962C8B-B14F-4D97-AF65-F5344CB8AC3E}">
        <p14:creationId xmlns:p14="http://schemas.microsoft.com/office/powerpoint/2010/main" val="3117859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F5C63A-B2C9-0042-DD5E-8CD0670C603B}"/>
              </a:ext>
            </a:extLst>
          </p:cNvPr>
          <p:cNvSpPr>
            <a:spLocks noGrp="1"/>
          </p:cNvSpPr>
          <p:nvPr>
            <p:ph type="title"/>
          </p:nvPr>
        </p:nvSpPr>
        <p:spPr>
          <a:xfrm>
            <a:off x="1171074" y="1396686"/>
            <a:ext cx="3240506" cy="4064628"/>
          </a:xfrm>
        </p:spPr>
        <p:txBody>
          <a:bodyPr vert="horz" lIns="91440" tIns="45720" rIns="91440" bIns="45720" rtlCol="0" anchor="ctr">
            <a:normAutofit/>
          </a:bodyPr>
          <a:lstStyle/>
          <a:p>
            <a:r>
              <a:rPr lang="en-US" kern="1200">
                <a:solidFill>
                  <a:srgbClr val="FFFFFF"/>
                </a:solidFill>
                <a:latin typeface="+mj-lt"/>
                <a:ea typeface="+mj-ea"/>
                <a:cs typeface="+mj-cs"/>
              </a:rPr>
              <a:t>Strategic Decision Matrix</a:t>
            </a:r>
          </a:p>
        </p:txBody>
      </p:sp>
      <p:sp>
        <p:nvSpPr>
          <p:cNvPr id="19" name="Arc 18">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A0BBFFAA-569E-B94C-C83C-0317E678F03B}"/>
              </a:ext>
            </a:extLst>
          </p:cNvPr>
          <p:cNvSpPr>
            <a:spLocks noGrp="1"/>
          </p:cNvSpPr>
          <p:nvPr>
            <p:ph type="body" sz="half" idx="1"/>
          </p:nvPr>
        </p:nvSpPr>
        <p:spPr>
          <a:xfrm>
            <a:off x="5370153" y="1526033"/>
            <a:ext cx="5536397" cy="3935281"/>
          </a:xfrm>
        </p:spPr>
        <p:txBody>
          <a:bodyPr vert="horz" lIns="91440" tIns="45720" rIns="91440" bIns="45720" rtlCol="0">
            <a:normAutofit/>
          </a:bodyPr>
          <a:lstStyle/>
          <a:p>
            <a:pPr marL="0" indent="0">
              <a:buNone/>
            </a:pPr>
            <a:r>
              <a:rPr lang="en-US" sz="2200" b="1" dirty="0"/>
              <a:t>Choose Agile When:</a:t>
            </a:r>
          </a:p>
          <a:p>
            <a:r>
              <a:rPr lang="en-US" sz="2200" dirty="0"/>
              <a:t>High market volatility.</a:t>
            </a:r>
          </a:p>
          <a:p>
            <a:r>
              <a:rPr lang="en-US" sz="2200" dirty="0"/>
              <a:t>Rapid delivery needed.</a:t>
            </a:r>
          </a:p>
          <a:p>
            <a:r>
              <a:rPr lang="en-US" sz="2200" dirty="0"/>
              <a:t>Continuous client feedback available.</a:t>
            </a:r>
          </a:p>
          <a:p>
            <a:endParaRPr lang="en-US" sz="2200" dirty="0"/>
          </a:p>
          <a:p>
            <a:pPr marL="0" indent="0">
              <a:buNone/>
            </a:pPr>
            <a:r>
              <a:rPr lang="en-US" sz="2200" b="1" dirty="0"/>
              <a:t>Choose Waterfall When:</a:t>
            </a:r>
          </a:p>
          <a:p>
            <a:r>
              <a:rPr lang="en-US" sz="2200" dirty="0"/>
              <a:t>Strict regulatory compliance.</a:t>
            </a:r>
          </a:p>
          <a:p>
            <a:r>
              <a:rPr lang="en-US" sz="2200" dirty="0"/>
              <a:t>Fixed hardware constraints.</a:t>
            </a:r>
          </a:p>
          <a:p>
            <a:r>
              <a:rPr lang="en-US" sz="2200" dirty="0"/>
              <a:t>Immutable budgets and fixed scope.</a:t>
            </a:r>
          </a:p>
          <a:p>
            <a:endParaRPr lang="en-US" sz="2200" dirty="0"/>
          </a:p>
        </p:txBody>
      </p:sp>
    </p:spTree>
    <p:extLst>
      <p:ext uri="{BB962C8B-B14F-4D97-AF65-F5344CB8AC3E}">
        <p14:creationId xmlns:p14="http://schemas.microsoft.com/office/powerpoint/2010/main" val="1304058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FF8B8D-EB0C-6FDD-9E20-DE31B4D7F816}"/>
              </a:ext>
            </a:extLst>
          </p:cNvPr>
          <p:cNvSpPr>
            <a:spLocks noGrp="1"/>
          </p:cNvSpPr>
          <p:nvPr>
            <p:ph type="title"/>
          </p:nvPr>
        </p:nvSpPr>
        <p:spPr>
          <a:xfrm>
            <a:off x="4553733" y="548464"/>
            <a:ext cx="6798541" cy="1675623"/>
          </a:xfrm>
        </p:spPr>
        <p:txBody>
          <a:bodyPr vert="horz" lIns="91440" tIns="45720" rIns="91440" bIns="45720" rtlCol="0" anchor="b">
            <a:normAutofit/>
          </a:bodyPr>
          <a:lstStyle/>
          <a:p>
            <a:r>
              <a:rPr lang="en-US" sz="4000"/>
              <a:t>Final Recommendation for Chada Tech</a:t>
            </a:r>
          </a:p>
        </p:txBody>
      </p:sp>
      <p:pic>
        <p:nvPicPr>
          <p:cNvPr id="6" name="Picture 5">
            <a:extLst>
              <a:ext uri="{FF2B5EF4-FFF2-40B4-BE49-F238E27FC236}">
                <a16:creationId xmlns:a16="http://schemas.microsoft.com/office/drawing/2014/main" id="{BE3F4893-5F0F-1330-9530-D00072C2341F}"/>
              </a:ext>
            </a:extLst>
          </p:cNvPr>
          <p:cNvPicPr>
            <a:picLocks noChangeAspect="1"/>
          </p:cNvPicPr>
          <p:nvPr/>
        </p:nvPicPr>
        <p:blipFill>
          <a:blip r:embed="rId3"/>
          <a:srcRect l="30514" r="28640" b="-1"/>
          <a:stretch>
            <a:fillRect/>
          </a:stretch>
        </p:blipFill>
        <p:spPr>
          <a:xfrm>
            <a:off x="1" y="10"/>
            <a:ext cx="4196496" cy="6857990"/>
          </a:xfrm>
          <a:prstGeom prst="rect">
            <a:avLst/>
          </a:prstGeom>
          <a:effectLst/>
        </p:spPr>
      </p:pic>
      <p:graphicFrame>
        <p:nvGraphicFramePr>
          <p:cNvPr id="5" name="Text Placeholder 2">
            <a:extLst>
              <a:ext uri="{FF2B5EF4-FFF2-40B4-BE49-F238E27FC236}">
                <a16:creationId xmlns:a16="http://schemas.microsoft.com/office/drawing/2014/main" id="{14B4292E-30B1-8A24-16AE-287FAFF280F1}"/>
              </a:ext>
            </a:extLst>
          </p:cNvPr>
          <p:cNvGraphicFramePr/>
          <p:nvPr>
            <p:extLst>
              <p:ext uri="{D42A27DB-BD31-4B8C-83A1-F6EECF244321}">
                <p14:modId xmlns:p14="http://schemas.microsoft.com/office/powerpoint/2010/main" val="4199440126"/>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44C01EED-48FC-A7D4-FCF1-18C115812810}"/>
              </a:ext>
            </a:extLst>
          </p:cNvPr>
          <p:cNvSpPr txBox="1"/>
          <p:nvPr/>
        </p:nvSpPr>
        <p:spPr>
          <a:xfrm>
            <a:off x="8448574" y="6201696"/>
            <a:ext cx="6097604" cy="369332"/>
          </a:xfrm>
          <a:prstGeom prst="rect">
            <a:avLst/>
          </a:prstGeom>
          <a:noFill/>
        </p:spPr>
        <p:txBody>
          <a:bodyPr wrap="square">
            <a:spAutoFit/>
          </a:bodyPr>
          <a:lstStyle/>
          <a:p>
            <a:pPr lvl="0"/>
            <a:r>
              <a:rPr lang="en-US" dirty="0"/>
              <a:t>(ADAPT Methodology, 2024).</a:t>
            </a:r>
          </a:p>
        </p:txBody>
      </p:sp>
    </p:spTree>
    <p:extLst>
      <p:ext uri="{BB962C8B-B14F-4D97-AF65-F5344CB8AC3E}">
        <p14:creationId xmlns:p14="http://schemas.microsoft.com/office/powerpoint/2010/main" val="1765016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FEDA11-8EA0-63C3-7E98-CED124F9621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a:solidFill>
                  <a:schemeClr val="tx1"/>
                </a:solidFill>
                <a:latin typeface="+mj-lt"/>
                <a:ea typeface="+mj-ea"/>
                <a:cs typeface="+mj-cs"/>
              </a:rPr>
              <a:t>References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16DC03F-C1A4-477A-DD81-5666BE72EBD9}"/>
              </a:ext>
            </a:extLst>
          </p:cNvPr>
          <p:cNvSpPr>
            <a:spLocks noGrp="1"/>
          </p:cNvSpPr>
          <p:nvPr>
            <p:ph type="body" idx="1"/>
          </p:nvPr>
        </p:nvSpPr>
        <p:spPr>
          <a:xfrm>
            <a:off x="838200" y="1929384"/>
            <a:ext cx="10515600" cy="4251960"/>
          </a:xfrm>
        </p:spPr>
        <p:txBody>
          <a:bodyPr vert="horz" lIns="91440" tIns="45720" rIns="91440" bIns="45720" rtlCol="0">
            <a:normAutofit/>
          </a:bodyPr>
          <a:lstStyle/>
          <a:p>
            <a:r>
              <a:rPr lang="en-US" sz="2200"/>
              <a:t>ADAPT Methodology. (2024, January 13). Effective Daily Scrum meeting: Unveiling the pillar of Agile success. https://adaptmethodology.com/blog/effective-daily-scrum-meeting/</a:t>
            </a:r>
          </a:p>
          <a:p>
            <a:r>
              <a:rPr lang="en-US" sz="2200"/>
              <a:t>Atlassian. (2024). Agile project management: The complete guide for agile projects. https://www.atlassian.com/agile/project-management</a:t>
            </a:r>
          </a:p>
          <a:p>
            <a:r>
              <a:rPr lang="en-US" sz="2200"/>
              <a:t>Drummond, B. (2021). Agile Product Management: User Stories. Independent.</a:t>
            </a:r>
          </a:p>
          <a:p>
            <a:r>
              <a:rPr lang="en-US" sz="2200"/>
              <a:t>Verheyen, G. (2021). Scrum - A Pocket Guide: A Smart Travel Companion (3rd ed.). Van Haren Publishing.</a:t>
            </a:r>
          </a:p>
        </p:txBody>
      </p:sp>
    </p:spTree>
    <p:extLst>
      <p:ext uri="{BB962C8B-B14F-4D97-AF65-F5344CB8AC3E}">
        <p14:creationId xmlns:p14="http://schemas.microsoft.com/office/powerpoint/2010/main" val="2301215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03760FAE6BCD240876954DB7E825487" ma:contentTypeVersion="11" ma:contentTypeDescription="Create a new document." ma:contentTypeScope="" ma:versionID="a22f1b47a1d6d344a50d4968d9fbda44">
  <xsd:schema xmlns:xsd="http://www.w3.org/2001/XMLSchema" xmlns:xs="http://www.w3.org/2001/XMLSchema" xmlns:p="http://schemas.microsoft.com/office/2006/metadata/properties" xmlns:ns3="9f410bb1-aa6a-4c30-aaac-1f44514d79e7" targetNamespace="http://schemas.microsoft.com/office/2006/metadata/properties" ma:root="true" ma:fieldsID="4d2da4c531df0e52e984f9808d1d3bbc" ns3:_="">
    <xsd:import namespace="9f410bb1-aa6a-4c30-aaac-1f44514d79e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410bb1-aa6a-4c30-aaac-1f44514d79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_activity" ma:index="14" nillable="true" ma:displayName="_activity" ma:hidden="true" ma:internalName="_activity">
      <xsd:simpleType>
        <xsd:restriction base="dms:Note"/>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f410bb1-aa6a-4c30-aaac-1f44514d79e7" xsi:nil="true"/>
  </documentManagement>
</p:properties>
</file>

<file path=customXml/itemProps1.xml><?xml version="1.0" encoding="utf-8"?>
<ds:datastoreItem xmlns:ds="http://schemas.openxmlformats.org/officeDocument/2006/customXml" ds:itemID="{B8FA1A82-A248-40E2-91B2-2FB8A8496C93}">
  <ds:schemaRefs>
    <ds:schemaRef ds:uri="http://schemas.microsoft.com/sharepoint/v3/contenttype/forms"/>
  </ds:schemaRefs>
</ds:datastoreItem>
</file>

<file path=customXml/itemProps2.xml><?xml version="1.0" encoding="utf-8"?>
<ds:datastoreItem xmlns:ds="http://schemas.openxmlformats.org/officeDocument/2006/customXml" ds:itemID="{D4EFFE8A-FF6C-4928-AC00-F2F40BBE3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410bb1-aa6a-4c30-aaac-1f44514d79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5241E7-2499-4DCB-AF99-61704BC345AD}">
  <ds:schemaRefs>
    <ds:schemaRef ds:uri="http://purl.org/dc/elements/1.1/"/>
    <ds:schemaRef ds:uri="http://schemas.microsoft.com/office/infopath/2007/PartnerControls"/>
    <ds:schemaRef ds:uri="http://purl.org/dc/dcmitype/"/>
    <ds:schemaRef ds:uri="http://purl.org/dc/terms/"/>
    <ds:schemaRef ds:uri="http://schemas.microsoft.com/office/2006/documentManagement/types"/>
    <ds:schemaRef ds:uri="9f410bb1-aa6a-4c30-aaac-1f44514d79e7"/>
    <ds:schemaRef ds:uri="http://schemas.microsoft.com/office/2006/metadata/properties"/>
    <ds:schemaRef ds:uri="http://www.w3.org/XML/1998/namespace"/>
    <ds:schemaRef ds:uri="http://schemas.openxmlformats.org/package/2006/metadata/core-properties"/>
  </ds:schemaRefs>
</ds:datastoreItem>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emplate>TM03457452[[fn=Celestial]]</Template>
  <TotalTime>42</TotalTime>
  <Words>877</Words>
  <Application>Microsoft Office PowerPoint</Application>
  <PresentationFormat>Widescreen</PresentationFormat>
  <Paragraphs>81</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Transitioning Chada Tech to Agile</vt:lpstr>
      <vt:lpstr>Executive Summary</vt:lpstr>
      <vt:lpstr>The Traditional SDLC:  The Waterfall Model</vt:lpstr>
      <vt:lpstr>The Modern SDLC: The Agile Approach</vt:lpstr>
      <vt:lpstr>The Engine of Agile: Scrum Team Roles</vt:lpstr>
      <vt:lpstr>Case Study:  Wellness Changes</vt:lpstr>
      <vt:lpstr>Strategic Decision Matrix</vt:lpstr>
      <vt:lpstr>Final Recommendation for Chada Tech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Trunkhill, Alexander</dc:creator>
  <cp:lastModifiedBy>Trunkhill, Alexander</cp:lastModifiedBy>
  <cp:revision>3</cp:revision>
  <dcterms:created xsi:type="dcterms:W3CDTF">2026-02-21T19:33:51Z</dcterms:created>
  <dcterms:modified xsi:type="dcterms:W3CDTF">2026-02-21T20:16:42Z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0x010100003760FAE6BCD240876954DB7E825487</vt:lpwstr>
  </property>
</Properties>
</file>